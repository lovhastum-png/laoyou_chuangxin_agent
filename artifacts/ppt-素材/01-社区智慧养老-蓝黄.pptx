
<file path=[Content_Types].xml><?xml version="1.0" encoding="utf-8"?>
<Types xmlns="http://schemas.openxmlformats.org/package/2006/content-types">
  <Default Extension="png" ContentType="image/png"/>
  <Default Extension="svg" ContentType="image/sv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Lst>
  <p:notesMasterIdLst>
    <p:notesMasterId r:id="rId23"/>
  </p:notesMasterIdLst>
  <p:sldIdLst>
    <p:sldId id="256" r:id="rId3"/>
    <p:sldId id="257" r:id="rId4"/>
    <p:sldId id="423" r:id="rId5"/>
    <p:sldId id="427" r:id="rId6"/>
    <p:sldId id="455" r:id="rId7"/>
    <p:sldId id="428" r:id="rId8"/>
    <p:sldId id="424" r:id="rId9"/>
    <p:sldId id="430" r:id="rId10"/>
    <p:sldId id="431" r:id="rId11"/>
    <p:sldId id="425" r:id="rId12"/>
    <p:sldId id="432" r:id="rId13"/>
    <p:sldId id="433" r:id="rId14"/>
    <p:sldId id="456" r:id="rId15"/>
    <p:sldId id="426" r:id="rId16"/>
    <p:sldId id="434" r:id="rId17"/>
    <p:sldId id="435" r:id="rId18"/>
    <p:sldId id="457" r:id="rId19"/>
    <p:sldId id="436" r:id="rId20"/>
    <p:sldId id="422" r:id="rId21"/>
    <p:sldId id="454" r:id="rId22"/>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16" autoAdjust="0"/>
    <p:restoredTop sz="95777" autoAdjust="0"/>
  </p:normalViewPr>
  <p:slideViewPr>
    <p:cSldViewPr snapToGrid="0">
      <p:cViewPr>
        <p:scale>
          <a:sx n="100" d="100"/>
          <a:sy n="100" d="100"/>
        </p:scale>
        <p:origin x="-942" y="-432"/>
      </p:cViewPr>
      <p:guideLst>
        <p:guide orient="horz" pos="2160"/>
        <p:guide pos="384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0291D4-9EC5-48C5-B176-D0CF20791399}" type="datetimeFigureOut">
              <a:rPr lang="zh-CN" altLang="en-US" smtClean="0"/>
              <a:t>2025/9/30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71F910-BB1B-4495-B9CD-DD8E7A00C4D8}" type="slidenum">
              <a:rPr lang="zh-CN" altLang="en-US" smtClean="0"/>
              <a:t>‹#›</a:t>
            </a:fld>
            <a:endParaRPr lang="zh-CN" altLang="en-US"/>
          </a:p>
        </p:txBody>
      </p:sp>
    </p:spTree>
    <p:extLst>
      <p:ext uri="{BB962C8B-B14F-4D97-AF65-F5344CB8AC3E}">
        <p14:creationId xmlns:p14="http://schemas.microsoft.com/office/powerpoint/2010/main" val="218895117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模板来自于：</a:t>
            </a:r>
            <a:r>
              <a:rPr lang="en-US" altLang="zh-CN"/>
              <a:t> </a:t>
            </a:r>
            <a:r>
              <a:rPr lang="zh-CN" altLang="en-US"/>
              <a:t>第一</a:t>
            </a:r>
            <a:r>
              <a:rPr lang="en-US" altLang="zh-CN"/>
              <a:t>PPT https://www.1ppt.com/</a:t>
            </a:r>
          </a:p>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7DE338D6-75B2-469C-B2B9-A87C5D4761A0}" type="datetimeFigureOut">
              <a:rPr lang="zh-CN" altLang="en-US" smtClean="0"/>
              <a:t>2025/9/30</a:t>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t>‹#›</a:t>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9pPr>
          </a:lstStyle>
          <a:p>
            <a:r>
              <a:rPr lang="zh-CN" altLang="en-US"/>
              <a:t>单击此处编辑母版标题样式</a:t>
            </a: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2025/9/30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2025/9/30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1.svg"/><Relationship Id="rId4" Type="http://schemas.openxmlformats.org/officeDocument/2006/relationships/image" Target="../media/image9.png"/><Relationship Id="rId9" Type="http://schemas.openxmlformats.org/officeDocument/2006/relationships/image" Target="../media/image15.svg"/></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4.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3.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image" Target="../media/image15.png"/><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76225" y="314885"/>
            <a:ext cx="11639550" cy="6228231"/>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rcRect l="9838" r="11685"/>
          <a:stretch>
            <a:fillRect/>
          </a:stretch>
        </p:blipFill>
        <p:spPr>
          <a:xfrm>
            <a:off x="0" y="826920"/>
            <a:ext cx="6353025" cy="5396897"/>
          </a:xfrm>
          <a:custGeom>
            <a:avLst/>
            <a:gdLst>
              <a:gd name="connsiteX0" fmla="*/ 0 w 9085006"/>
              <a:gd name="connsiteY0" fmla="*/ 0 h 6857999"/>
              <a:gd name="connsiteX1" fmla="*/ 5656005 w 9085006"/>
              <a:gd name="connsiteY1" fmla="*/ 0 h 6857999"/>
              <a:gd name="connsiteX2" fmla="*/ 9085006 w 9085006"/>
              <a:gd name="connsiteY2" fmla="*/ 3429001 h 6857999"/>
              <a:gd name="connsiteX3" fmla="*/ 5832461 w 9085006"/>
              <a:gd name="connsiteY3" fmla="*/ 6853540 h 6857999"/>
              <a:gd name="connsiteX4" fmla="*/ 5656127 w 9085006"/>
              <a:gd name="connsiteY4" fmla="*/ 6857999 h 6857999"/>
              <a:gd name="connsiteX5" fmla="*/ 0 w 9085006"/>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5006" h="6857999">
                <a:moveTo>
                  <a:pt x="0" y="0"/>
                </a:moveTo>
                <a:lnTo>
                  <a:pt x="5656005" y="0"/>
                </a:lnTo>
                <a:cubicBezTo>
                  <a:pt x="7549790" y="0"/>
                  <a:pt x="9085006" y="1535216"/>
                  <a:pt x="9085006" y="3429001"/>
                </a:cubicBezTo>
                <a:cubicBezTo>
                  <a:pt x="9085006" y="5263605"/>
                  <a:pt x="7644242" y="6761701"/>
                  <a:pt x="5832461" y="6853540"/>
                </a:cubicBezTo>
                <a:lnTo>
                  <a:pt x="5656127" y="6857999"/>
                </a:lnTo>
                <a:lnTo>
                  <a:pt x="0" y="6857999"/>
                </a:lnTo>
                <a:close/>
              </a:path>
            </a:pathLst>
          </a:custGeom>
        </p:spPr>
      </p:pic>
      <p:sp>
        <p:nvSpPr>
          <p:cNvPr id="12" name="矩形: 对角圆角 11"/>
          <p:cNvSpPr/>
          <p:nvPr/>
        </p:nvSpPr>
        <p:spPr>
          <a:xfrm>
            <a:off x="5464150" y="2132988"/>
            <a:ext cx="5974779" cy="127635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p:nvSpPr>
        <p:spPr>
          <a:xfrm>
            <a:off x="8037616" y="5265876"/>
            <a:ext cx="1933698" cy="494535"/>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5661401" y="1267712"/>
            <a:ext cx="6219539" cy="769441"/>
          </a:xfrm>
          <a:prstGeom prst="rect">
            <a:avLst/>
          </a:prstGeom>
          <a:noFill/>
        </p:spPr>
        <p:txBody>
          <a:bodyPr wrap="square">
            <a:spAutoFit/>
          </a:bodyPr>
          <a:lstStyle/>
          <a:p>
            <a:pPr algn="ctr"/>
            <a:r>
              <a:rPr lang="en-US" altLang="zh-CN" sz="44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Provide for the aged</a:t>
            </a:r>
            <a:endParaRPr lang="zh-CN" altLang="en-US" sz="44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sp>
        <p:nvSpPr>
          <p:cNvPr id="20" name="文本框 19"/>
          <p:cNvSpPr txBox="1"/>
          <p:nvPr/>
        </p:nvSpPr>
        <p:spPr>
          <a:xfrm>
            <a:off x="6526471" y="4092920"/>
            <a:ext cx="4955988" cy="899733"/>
          </a:xfrm>
          <a:prstGeom prst="rect">
            <a:avLst/>
          </a:prstGeom>
          <a:noFill/>
        </p:spPr>
        <p:txBody>
          <a:bodyPr wrap="square">
            <a:spAutoFit/>
          </a:bodyPr>
          <a:lstStyle/>
          <a:p>
            <a:pPr algn="ctr">
              <a:lnSpc>
                <a:spcPct val="150000"/>
              </a:lnSpc>
              <a:spcBef>
                <a:spcPts val="800"/>
              </a:spcBef>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OPPOSans R" panose="00020600040101010101" pitchFamily="18" charset="-122"/>
                <a:sym typeface="汉仪旗黑X1-55W" panose="00020600040101010101" pitchFamily="18" charset="-122"/>
              </a:rPr>
              <a:t>It could be the part of the presentation where you can introduce your company or agency. It could be the part of the presentation where you can introduce your company or agency. </a:t>
            </a:r>
          </a:p>
        </p:txBody>
      </p:sp>
      <p:sp>
        <p:nvSpPr>
          <p:cNvPr id="21" name="文本框 20"/>
          <p:cNvSpPr txBox="1"/>
          <p:nvPr/>
        </p:nvSpPr>
        <p:spPr>
          <a:xfrm>
            <a:off x="4932025" y="2217165"/>
            <a:ext cx="6983750" cy="1106805"/>
          </a:xfrm>
          <a:prstGeom prst="rect">
            <a:avLst/>
          </a:prstGeom>
          <a:noFill/>
        </p:spPr>
        <p:txBody>
          <a:bodyPr wrap="square">
            <a:spAutoFit/>
          </a:bodyPr>
          <a:lstStyle/>
          <a:p>
            <a:pPr algn="ctr"/>
            <a:r>
              <a:rPr lang="zh-CN" altLang="en-US" sz="66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社区智慧养老</a:t>
            </a:r>
          </a:p>
        </p:txBody>
      </p:sp>
      <p:sp>
        <p:nvSpPr>
          <p:cNvPr id="22" name="文本框 21"/>
          <p:cNvSpPr txBox="1"/>
          <p:nvPr/>
        </p:nvSpPr>
        <p:spPr>
          <a:xfrm>
            <a:off x="6680290" y="3694086"/>
            <a:ext cx="4648350" cy="307777"/>
          </a:xfrm>
          <a:prstGeom prst="rect">
            <a:avLst/>
          </a:prstGeom>
          <a:noFill/>
        </p:spPr>
        <p:txBody>
          <a:bodyPr wrap="square">
            <a:spAutoFit/>
          </a:bodyPr>
          <a:lstStyle/>
          <a:p>
            <a:pPr algn="dist"/>
            <a:r>
              <a:rPr lang="zh-CN" altLang="en-US" sz="1400" dirty="0">
                <a:solidFill>
                  <a:srgbClr val="086DCE"/>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养老院社区智慧养老解决方案</a:t>
            </a:r>
            <a:r>
              <a:rPr lang="en-US" altLang="zh-CN" sz="1400" dirty="0">
                <a:solidFill>
                  <a:srgbClr val="086DCE"/>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PPT</a:t>
            </a:r>
            <a:endParaRPr lang="zh-CN" altLang="en-US" sz="1400" dirty="0">
              <a:solidFill>
                <a:srgbClr val="086DCE"/>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endParaRPr>
          </a:p>
        </p:txBody>
      </p:sp>
      <p:cxnSp>
        <p:nvCxnSpPr>
          <p:cNvPr id="24" name="直接连接符 23"/>
          <p:cNvCxnSpPr/>
          <p:nvPr/>
        </p:nvCxnSpPr>
        <p:spPr>
          <a:xfrm>
            <a:off x="6661332" y="4092920"/>
            <a:ext cx="4686266" cy="0"/>
          </a:xfrm>
          <a:prstGeom prst="line">
            <a:avLst/>
          </a:prstGeom>
          <a:ln w="12700">
            <a:solidFill>
              <a:srgbClr val="0A3181"/>
            </a:solidFill>
          </a:ln>
        </p:spPr>
        <p:style>
          <a:lnRef idx="1">
            <a:schemeClr val="accent1"/>
          </a:lnRef>
          <a:fillRef idx="0">
            <a:schemeClr val="accent1"/>
          </a:fillRef>
          <a:effectRef idx="0">
            <a:schemeClr val="accent1"/>
          </a:effectRef>
          <a:fontRef idx="minor">
            <a:schemeClr val="tx1"/>
          </a:fontRef>
        </p:style>
      </p:cxnSp>
      <p:sp>
        <p:nvSpPr>
          <p:cNvPr id="25" name="矩形: 单圆角 24"/>
          <p:cNvSpPr/>
          <p:nvPr/>
        </p:nvSpPr>
        <p:spPr>
          <a:xfrm>
            <a:off x="0" y="6031080"/>
            <a:ext cx="1974441" cy="826920"/>
          </a:xfrm>
          <a:prstGeom prst="round1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717861" y="871225"/>
            <a:ext cx="746290" cy="578097"/>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383649" y="6177770"/>
            <a:ext cx="746290" cy="578097"/>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2" name="文本框 51"/>
          <p:cNvSpPr txBox="1"/>
          <p:nvPr/>
        </p:nvSpPr>
        <p:spPr>
          <a:xfrm>
            <a:off x="7396707" y="5313088"/>
            <a:ext cx="3215516" cy="400110"/>
          </a:xfrm>
          <a:prstGeom prst="rect">
            <a:avLst/>
          </a:prstGeom>
          <a:noFill/>
        </p:spPr>
        <p:txBody>
          <a:bodyPr wrap="squar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START </a:t>
            </a:r>
            <a:r>
              <a:rPr lang="zh-CN" altLang="en-US" sz="2000" dirty="0">
                <a:solidFill>
                  <a:schemeClr val="bg1"/>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a:t>
            </a:r>
          </a:p>
        </p:txBody>
      </p:sp>
      <p:sp>
        <p:nvSpPr>
          <p:cNvPr id="53" name="矩形: 对角圆角 52"/>
          <p:cNvSpPr/>
          <p:nvPr/>
        </p:nvSpPr>
        <p:spPr>
          <a:xfrm>
            <a:off x="651014" y="433019"/>
            <a:ext cx="672411" cy="55802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a:off x="704907" y="1216143"/>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对角圆角 54"/>
          <p:cNvSpPr/>
          <p:nvPr/>
        </p:nvSpPr>
        <p:spPr>
          <a:xfrm>
            <a:off x="6014101" y="5459920"/>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76225" y="314885"/>
            <a:ext cx="11639550" cy="6228231"/>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99731" y="2102536"/>
            <a:ext cx="5120294" cy="2117403"/>
            <a:chOff x="6444062" y="2132988"/>
            <a:chExt cx="5120294" cy="2117403"/>
          </a:xfrm>
        </p:grpSpPr>
        <p:sp>
          <p:nvSpPr>
            <p:cNvPr id="19" name="文本框 18"/>
            <p:cNvSpPr txBox="1"/>
            <p:nvPr/>
          </p:nvSpPr>
          <p:spPr>
            <a:xfrm>
              <a:off x="6444062" y="3480950"/>
              <a:ext cx="5120294" cy="769441"/>
            </a:xfrm>
            <a:prstGeom prst="rect">
              <a:avLst/>
            </a:prstGeom>
            <a:noFill/>
          </p:spPr>
          <p:txBody>
            <a:bodyPr wrap="square">
              <a:spAutoFit/>
            </a:bodyPr>
            <a:lstStyle/>
            <a:p>
              <a:pPr algn="ctr"/>
              <a:r>
                <a:rPr lang="en-US" altLang="zh-CN" sz="44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CONTENTS</a:t>
              </a:r>
            </a:p>
          </p:txBody>
        </p:sp>
        <p:grpSp>
          <p:nvGrpSpPr>
            <p:cNvPr id="4" name="组合 3"/>
            <p:cNvGrpSpPr/>
            <p:nvPr/>
          </p:nvGrpSpPr>
          <p:grpSpPr>
            <a:xfrm>
              <a:off x="6826068" y="2132988"/>
              <a:ext cx="4356282" cy="2117403"/>
              <a:chOff x="6826068" y="2132988"/>
              <a:chExt cx="4356282" cy="2117403"/>
            </a:xfrm>
          </p:grpSpPr>
          <p:sp>
            <p:nvSpPr>
              <p:cNvPr id="12" name="矩形: 对角圆角 11"/>
              <p:cNvSpPr/>
              <p:nvPr/>
            </p:nvSpPr>
            <p:spPr>
              <a:xfrm>
                <a:off x="7721418" y="2132988"/>
                <a:ext cx="2565582" cy="127635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826068" y="2236215"/>
                <a:ext cx="4356282" cy="1107996"/>
              </a:xfrm>
              <a:prstGeom prst="rect">
                <a:avLst/>
              </a:prstGeom>
              <a:noFill/>
            </p:spPr>
            <p:txBody>
              <a:bodyPr wrap="square">
                <a:spAutoFit/>
              </a:bodyPr>
              <a:lstStyle/>
              <a:p>
                <a:pPr algn="ctr"/>
                <a:r>
                  <a:rPr lang="zh-CN" altLang="en-US" sz="66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目录</a:t>
                </a:r>
              </a:p>
            </p:txBody>
          </p:sp>
          <p:cxnSp>
            <p:nvCxnSpPr>
              <p:cNvPr id="24" name="直接连接符 23"/>
              <p:cNvCxnSpPr/>
              <p:nvPr/>
            </p:nvCxnSpPr>
            <p:spPr>
              <a:xfrm>
                <a:off x="7252743" y="4250391"/>
                <a:ext cx="3359224" cy="0"/>
              </a:xfrm>
              <a:prstGeom prst="line">
                <a:avLst/>
              </a:prstGeom>
              <a:ln w="12700">
                <a:solidFill>
                  <a:srgbClr val="0A3181"/>
                </a:solidFill>
              </a:ln>
            </p:spPr>
            <p:style>
              <a:lnRef idx="1">
                <a:schemeClr val="accent1"/>
              </a:lnRef>
              <a:fillRef idx="0">
                <a:schemeClr val="accent1"/>
              </a:fillRef>
              <a:effectRef idx="0">
                <a:schemeClr val="accent1"/>
              </a:effectRef>
              <a:fontRef idx="minor">
                <a:schemeClr val="tx1"/>
              </a:fontRef>
            </p:style>
          </p:cxnSp>
        </p:grpSp>
      </p:grpSp>
      <p:grpSp>
        <p:nvGrpSpPr>
          <p:cNvPr id="26" name="组合 25"/>
          <p:cNvGrpSpPr/>
          <p:nvPr/>
        </p:nvGrpSpPr>
        <p:grpSpPr>
          <a:xfrm>
            <a:off x="96780" y="6122489"/>
            <a:ext cx="746290" cy="578097"/>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383649" y="6177770"/>
            <a:ext cx="746290" cy="578097"/>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6" name="组合 5"/>
          <p:cNvGrpSpPr/>
          <p:nvPr/>
        </p:nvGrpSpPr>
        <p:grpSpPr>
          <a:xfrm>
            <a:off x="651014" y="433019"/>
            <a:ext cx="672411" cy="1070055"/>
            <a:chOff x="651014" y="433019"/>
            <a:chExt cx="672411" cy="1070055"/>
          </a:xfrm>
        </p:grpSpPr>
        <p:sp>
          <p:nvSpPr>
            <p:cNvPr id="53" name="矩形: 对角圆角 52"/>
            <p:cNvSpPr/>
            <p:nvPr/>
          </p:nvSpPr>
          <p:spPr>
            <a:xfrm>
              <a:off x="651014" y="433019"/>
              <a:ext cx="672411" cy="55802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a:off x="704907" y="1216143"/>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flipH="1">
            <a:off x="11334149" y="140817"/>
            <a:ext cx="661068" cy="730408"/>
            <a:chOff x="5696236" y="5459920"/>
            <a:chExt cx="661068" cy="730408"/>
          </a:xfrm>
        </p:grpSpPr>
        <p:sp>
          <p:nvSpPr>
            <p:cNvPr id="55" name="矩形: 对角圆角 54"/>
            <p:cNvSpPr/>
            <p:nvPr/>
          </p:nvSpPr>
          <p:spPr>
            <a:xfrm>
              <a:off x="6014101" y="5459920"/>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7" name="文本框 56"/>
          <p:cNvSpPr txBox="1"/>
          <p:nvPr/>
        </p:nvSpPr>
        <p:spPr>
          <a:xfrm>
            <a:off x="651014" y="4426066"/>
            <a:ext cx="4217729" cy="622735"/>
          </a:xfrm>
          <a:prstGeom prst="rect">
            <a:avLst/>
          </a:prstGeom>
          <a:noFill/>
        </p:spPr>
        <p:txBody>
          <a:bodyPr wrap="square">
            <a:spAutoFit/>
          </a:bodyPr>
          <a:lstStyle/>
          <a:p>
            <a:pPr algn="ctr">
              <a:lnSpc>
                <a:spcPct val="150000"/>
              </a:lnSpc>
              <a:spcBef>
                <a:spcPts val="800"/>
              </a:spcBef>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OPPOSans R" panose="00020600040101010101" pitchFamily="18" charset="-122"/>
                <a:sym typeface="汉仪旗黑X1-55W" panose="00020600040101010101" pitchFamily="18" charset="-122"/>
              </a:rPr>
              <a:t>It could be the part of the presentation where you can introduce your company or agency. </a:t>
            </a:r>
          </a:p>
        </p:txBody>
      </p:sp>
      <p:grpSp>
        <p:nvGrpSpPr>
          <p:cNvPr id="8" name="组合 7"/>
          <p:cNvGrpSpPr/>
          <p:nvPr/>
        </p:nvGrpSpPr>
        <p:grpSpPr>
          <a:xfrm>
            <a:off x="5475786" y="834984"/>
            <a:ext cx="5656805" cy="5188033"/>
            <a:chOff x="5375306" y="849335"/>
            <a:chExt cx="5656805" cy="5188033"/>
          </a:xfrm>
        </p:grpSpPr>
        <p:grpSp>
          <p:nvGrpSpPr>
            <p:cNvPr id="7" name="组合 6"/>
            <p:cNvGrpSpPr/>
            <p:nvPr/>
          </p:nvGrpSpPr>
          <p:grpSpPr>
            <a:xfrm>
              <a:off x="5375306" y="849335"/>
              <a:ext cx="5656805" cy="872705"/>
              <a:chOff x="5375306" y="849335"/>
              <a:chExt cx="5656805" cy="872705"/>
            </a:xfrm>
          </p:grpSpPr>
          <p:sp>
            <p:nvSpPr>
              <p:cNvPr id="25" name="矩形: 对角圆角 24"/>
              <p:cNvSpPr/>
              <p:nvPr/>
            </p:nvSpPr>
            <p:spPr>
              <a:xfrm>
                <a:off x="5601240" y="928749"/>
                <a:ext cx="826490" cy="711872"/>
              </a:xfrm>
              <a:prstGeom prst="round2DiagRect">
                <a:avLst>
                  <a:gd name="adj1" fmla="val 38481"/>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5375306" y="961520"/>
                <a:ext cx="1278358" cy="646331"/>
              </a:xfrm>
              <a:prstGeom prst="rect">
                <a:avLst/>
              </a:prstGeom>
              <a:noFill/>
            </p:spPr>
            <p:txBody>
              <a:bodyPr wrap="square">
                <a:spAutoFit/>
              </a:bodyPr>
              <a:lstStyle/>
              <a:p>
                <a:pPr algn="ctr" rtl="0"/>
                <a:r>
                  <a:rPr lang="en-US" altLang="zh-CN" sz="3600" b="1" i="0" dirty="0">
                    <a:solidFill>
                      <a:schemeClr val="bg1"/>
                    </a:solidFill>
                    <a:effectLst/>
                    <a:latin typeface="思源宋体 CN Heavy" pitchFamily="18" charset="-122"/>
                    <a:ea typeface="思源宋体 CN Heavy" pitchFamily="18" charset="-122"/>
                    <a:sym typeface="汉仪中宋S" panose="00020600040101010101" pitchFamily="18" charset="-122"/>
                  </a:rPr>
                  <a:t>01</a:t>
                </a:r>
              </a:p>
            </p:txBody>
          </p:sp>
          <p:sp>
            <p:nvSpPr>
              <p:cNvPr id="59" name="文本框 58"/>
              <p:cNvSpPr txBox="1"/>
              <p:nvPr/>
            </p:nvSpPr>
            <p:spPr>
              <a:xfrm>
                <a:off x="6730158" y="849335"/>
                <a:ext cx="3208711" cy="523220"/>
              </a:xfrm>
              <a:prstGeom prst="rect">
                <a:avLst/>
              </a:prstGeom>
              <a:noFill/>
            </p:spPr>
            <p:txBody>
              <a:bodyPr wrap="square">
                <a:spAutoFit/>
              </a:bodyPr>
              <a:lstStyle/>
              <a:p>
                <a:r>
                  <a:rPr lang="zh-CN" altLang="en-US" sz="2800" b="1" dirty="0">
                    <a:latin typeface="思源宋体 CN Heavy" pitchFamily="18" charset="-122"/>
                    <a:ea typeface="思源宋体 CN Heavy" pitchFamily="18" charset="-122"/>
                    <a:sym typeface="汉仪中宋S" panose="00020600040101010101" pitchFamily="18" charset="-122"/>
                  </a:rPr>
                  <a:t>智慧养老的发展</a:t>
                </a:r>
              </a:p>
            </p:txBody>
          </p:sp>
          <p:sp>
            <p:nvSpPr>
              <p:cNvPr id="60" name="文本框 59"/>
              <p:cNvSpPr txBox="1"/>
              <p:nvPr/>
            </p:nvSpPr>
            <p:spPr>
              <a:xfrm>
                <a:off x="6730158" y="1336742"/>
                <a:ext cx="4301953" cy="385298"/>
              </a:xfrm>
              <a:prstGeom prst="rect">
                <a:avLst/>
              </a:prstGeom>
              <a:noFill/>
            </p:spPr>
            <p:txBody>
              <a:bodyPr wrap="square">
                <a:spAutoFit/>
              </a:bodyPr>
              <a:lstStyle/>
              <a:p>
                <a:pPr>
                  <a:lnSpc>
                    <a:spcPct val="150000"/>
                  </a:lnSpc>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Abel"/>
                    <a:sym typeface="汉仪旗黑X1-55W" panose="00020600040101010101" pitchFamily="18" charset="-122"/>
                  </a:rPr>
                  <a:t>Here you could describe the topic of the section.</a:t>
                </a:r>
                <a:r>
                  <a:rPr lang="en-US" altLang="zh-CN" sz="1400" dirty="0">
                    <a:solidFill>
                      <a:schemeClr val="bg1">
                        <a:lumMod val="50000"/>
                      </a:schemeClr>
                    </a:solidFill>
                    <a:latin typeface="微软雅黑" panose="020B0503020204020204" pitchFamily="34" charset="-122"/>
                    <a:ea typeface="微软雅黑" panose="020B0503020204020204" pitchFamily="34" charset="-122"/>
                    <a:sym typeface="汉仪旗黑X1-55W" panose="00020600040101010101" pitchFamily="18" charset="-122"/>
                  </a:rPr>
                  <a:t> </a:t>
                </a:r>
              </a:p>
            </p:txBody>
          </p:sp>
        </p:grpSp>
        <p:grpSp>
          <p:nvGrpSpPr>
            <p:cNvPr id="61" name="组合 60"/>
            <p:cNvGrpSpPr/>
            <p:nvPr/>
          </p:nvGrpSpPr>
          <p:grpSpPr>
            <a:xfrm>
              <a:off x="5375306" y="2287778"/>
              <a:ext cx="5656805" cy="872705"/>
              <a:chOff x="5375306" y="849335"/>
              <a:chExt cx="5656805" cy="872705"/>
            </a:xfrm>
          </p:grpSpPr>
          <p:sp>
            <p:nvSpPr>
              <p:cNvPr id="62" name="矩形: 对角圆角 61"/>
              <p:cNvSpPr/>
              <p:nvPr/>
            </p:nvSpPr>
            <p:spPr>
              <a:xfrm>
                <a:off x="5601240" y="928749"/>
                <a:ext cx="826490" cy="711872"/>
              </a:xfrm>
              <a:prstGeom prst="round2DiagRect">
                <a:avLst>
                  <a:gd name="adj1" fmla="val 38481"/>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5375306" y="961520"/>
                <a:ext cx="1278358" cy="646331"/>
              </a:xfrm>
              <a:prstGeom prst="rect">
                <a:avLst/>
              </a:prstGeom>
              <a:noFill/>
            </p:spPr>
            <p:txBody>
              <a:bodyPr wrap="square">
                <a:spAutoFit/>
              </a:bodyPr>
              <a:lstStyle/>
              <a:p>
                <a:pPr algn="ctr" rtl="0"/>
                <a:r>
                  <a:rPr lang="en-US" altLang="zh-CN" sz="3600" b="1" i="0" dirty="0">
                    <a:solidFill>
                      <a:schemeClr val="bg1"/>
                    </a:solidFill>
                    <a:effectLst/>
                    <a:latin typeface="思源宋体 CN Heavy" pitchFamily="18" charset="-122"/>
                    <a:ea typeface="思源宋体 CN Heavy" pitchFamily="18" charset="-122"/>
                    <a:sym typeface="汉仪中宋S" panose="00020600040101010101" pitchFamily="18" charset="-122"/>
                  </a:rPr>
                  <a:t>02</a:t>
                </a:r>
              </a:p>
            </p:txBody>
          </p:sp>
          <p:sp>
            <p:nvSpPr>
              <p:cNvPr id="64" name="文本框 63"/>
              <p:cNvSpPr txBox="1"/>
              <p:nvPr/>
            </p:nvSpPr>
            <p:spPr>
              <a:xfrm>
                <a:off x="6730158" y="849335"/>
                <a:ext cx="2942011" cy="523220"/>
              </a:xfrm>
              <a:prstGeom prst="rect">
                <a:avLst/>
              </a:prstGeom>
              <a:noFill/>
            </p:spPr>
            <p:txBody>
              <a:bodyPr wrap="square">
                <a:spAutoFit/>
              </a:bodyPr>
              <a:lstStyle/>
              <a:p>
                <a:r>
                  <a:rPr lang="zh-CN" altLang="en-US" sz="2800" b="1" dirty="0">
                    <a:latin typeface="思源宋体 CN Heavy" pitchFamily="18" charset="-122"/>
                    <a:ea typeface="思源宋体 CN Heavy" pitchFamily="18" charset="-122"/>
                    <a:sym typeface="汉仪中宋S" panose="00020600040101010101" pitchFamily="18" charset="-122"/>
                  </a:rPr>
                  <a:t>养老政策支持</a:t>
                </a:r>
              </a:p>
            </p:txBody>
          </p:sp>
          <p:sp>
            <p:nvSpPr>
              <p:cNvPr id="65" name="文本框 64"/>
              <p:cNvSpPr txBox="1"/>
              <p:nvPr/>
            </p:nvSpPr>
            <p:spPr>
              <a:xfrm>
                <a:off x="6730158" y="1336742"/>
                <a:ext cx="4301953" cy="385298"/>
              </a:xfrm>
              <a:prstGeom prst="rect">
                <a:avLst/>
              </a:prstGeom>
              <a:noFill/>
            </p:spPr>
            <p:txBody>
              <a:bodyPr wrap="square">
                <a:spAutoFit/>
              </a:bodyPr>
              <a:lstStyle/>
              <a:p>
                <a:pPr>
                  <a:lnSpc>
                    <a:spcPct val="150000"/>
                  </a:lnSpc>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Abel"/>
                    <a:sym typeface="汉仪旗黑X1-55W" panose="00020600040101010101" pitchFamily="18" charset="-122"/>
                  </a:rPr>
                  <a:t>Here you could describe the topic of the section.</a:t>
                </a:r>
                <a:r>
                  <a:rPr lang="en-US" altLang="zh-CN" sz="1400" dirty="0">
                    <a:solidFill>
                      <a:schemeClr val="bg1">
                        <a:lumMod val="50000"/>
                      </a:schemeClr>
                    </a:solidFill>
                    <a:latin typeface="微软雅黑" panose="020B0503020204020204" pitchFamily="34" charset="-122"/>
                    <a:ea typeface="微软雅黑" panose="020B0503020204020204" pitchFamily="34" charset="-122"/>
                    <a:sym typeface="汉仪旗黑X1-55W" panose="00020600040101010101" pitchFamily="18" charset="-122"/>
                  </a:rPr>
                  <a:t> </a:t>
                </a:r>
              </a:p>
            </p:txBody>
          </p:sp>
        </p:grpSp>
        <p:grpSp>
          <p:nvGrpSpPr>
            <p:cNvPr id="66" name="组合 65"/>
            <p:cNvGrpSpPr/>
            <p:nvPr/>
          </p:nvGrpSpPr>
          <p:grpSpPr>
            <a:xfrm>
              <a:off x="5375306" y="3726221"/>
              <a:ext cx="5656805" cy="872705"/>
              <a:chOff x="5375306" y="849335"/>
              <a:chExt cx="5656805" cy="872705"/>
            </a:xfrm>
          </p:grpSpPr>
          <p:sp>
            <p:nvSpPr>
              <p:cNvPr id="67" name="矩形: 对角圆角 66"/>
              <p:cNvSpPr/>
              <p:nvPr/>
            </p:nvSpPr>
            <p:spPr>
              <a:xfrm>
                <a:off x="5601240" y="928749"/>
                <a:ext cx="826490" cy="711872"/>
              </a:xfrm>
              <a:prstGeom prst="round2DiagRect">
                <a:avLst>
                  <a:gd name="adj1" fmla="val 38481"/>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p:cNvSpPr txBox="1"/>
              <p:nvPr/>
            </p:nvSpPr>
            <p:spPr>
              <a:xfrm>
                <a:off x="5375306" y="961520"/>
                <a:ext cx="1278358" cy="646331"/>
              </a:xfrm>
              <a:prstGeom prst="rect">
                <a:avLst/>
              </a:prstGeom>
              <a:noFill/>
            </p:spPr>
            <p:txBody>
              <a:bodyPr wrap="square">
                <a:spAutoFit/>
              </a:bodyPr>
              <a:lstStyle/>
              <a:p>
                <a:pPr algn="ctr" rtl="0"/>
                <a:r>
                  <a:rPr lang="en-US" altLang="zh-CN" sz="3600" b="1" i="0" dirty="0">
                    <a:solidFill>
                      <a:schemeClr val="bg1"/>
                    </a:solidFill>
                    <a:effectLst/>
                    <a:latin typeface="思源宋体 CN Heavy" pitchFamily="18" charset="-122"/>
                    <a:ea typeface="思源宋体 CN Heavy" pitchFamily="18" charset="-122"/>
                    <a:sym typeface="汉仪中宋S" panose="00020600040101010101" pitchFamily="18" charset="-122"/>
                  </a:rPr>
                  <a:t>03</a:t>
                </a:r>
              </a:p>
            </p:txBody>
          </p:sp>
          <p:sp>
            <p:nvSpPr>
              <p:cNvPr id="69" name="文本框 68"/>
              <p:cNvSpPr txBox="1"/>
              <p:nvPr/>
            </p:nvSpPr>
            <p:spPr>
              <a:xfrm>
                <a:off x="6730158" y="849335"/>
                <a:ext cx="3688947" cy="523220"/>
              </a:xfrm>
              <a:prstGeom prst="rect">
                <a:avLst/>
              </a:prstGeom>
              <a:noFill/>
            </p:spPr>
            <p:txBody>
              <a:bodyPr wrap="square">
                <a:spAutoFit/>
              </a:bodyPr>
              <a:lstStyle/>
              <a:p>
                <a:r>
                  <a:rPr lang="zh-CN" altLang="en-US" sz="2800" b="1" dirty="0">
                    <a:latin typeface="思源宋体 CN Heavy" pitchFamily="18" charset="-122"/>
                    <a:ea typeface="思源宋体 CN Heavy" pitchFamily="18" charset="-122"/>
                    <a:sym typeface="汉仪中宋S" panose="00020600040101010101" pitchFamily="18" charset="-122"/>
                  </a:rPr>
                  <a:t>智慧养老措施</a:t>
                </a:r>
              </a:p>
            </p:txBody>
          </p:sp>
          <p:sp>
            <p:nvSpPr>
              <p:cNvPr id="70" name="文本框 69"/>
              <p:cNvSpPr txBox="1"/>
              <p:nvPr/>
            </p:nvSpPr>
            <p:spPr>
              <a:xfrm>
                <a:off x="6730158" y="1336742"/>
                <a:ext cx="4301953" cy="385298"/>
              </a:xfrm>
              <a:prstGeom prst="rect">
                <a:avLst/>
              </a:prstGeom>
              <a:noFill/>
            </p:spPr>
            <p:txBody>
              <a:bodyPr wrap="square">
                <a:spAutoFit/>
              </a:bodyPr>
              <a:lstStyle/>
              <a:p>
                <a:pPr>
                  <a:lnSpc>
                    <a:spcPct val="150000"/>
                  </a:lnSpc>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Abel"/>
                    <a:sym typeface="汉仪旗黑X1-55W" panose="00020600040101010101" pitchFamily="18" charset="-122"/>
                  </a:rPr>
                  <a:t>Here you could describe the topic of the section.</a:t>
                </a:r>
                <a:r>
                  <a:rPr lang="en-US" altLang="zh-CN" sz="1400" dirty="0">
                    <a:solidFill>
                      <a:schemeClr val="bg1">
                        <a:lumMod val="50000"/>
                      </a:schemeClr>
                    </a:solidFill>
                    <a:latin typeface="微软雅黑" panose="020B0503020204020204" pitchFamily="34" charset="-122"/>
                    <a:ea typeface="微软雅黑" panose="020B0503020204020204" pitchFamily="34" charset="-122"/>
                    <a:sym typeface="汉仪旗黑X1-55W" panose="00020600040101010101" pitchFamily="18" charset="-122"/>
                  </a:rPr>
                  <a:t> </a:t>
                </a:r>
              </a:p>
            </p:txBody>
          </p:sp>
        </p:grpSp>
        <p:grpSp>
          <p:nvGrpSpPr>
            <p:cNvPr id="71" name="组合 70"/>
            <p:cNvGrpSpPr/>
            <p:nvPr/>
          </p:nvGrpSpPr>
          <p:grpSpPr>
            <a:xfrm>
              <a:off x="5375306" y="5164663"/>
              <a:ext cx="5656805" cy="872705"/>
              <a:chOff x="5375306" y="849335"/>
              <a:chExt cx="5656805" cy="872705"/>
            </a:xfrm>
          </p:grpSpPr>
          <p:sp>
            <p:nvSpPr>
              <p:cNvPr id="72" name="矩形: 对角圆角 71"/>
              <p:cNvSpPr/>
              <p:nvPr/>
            </p:nvSpPr>
            <p:spPr>
              <a:xfrm>
                <a:off x="5601240" y="928749"/>
                <a:ext cx="826490" cy="711872"/>
              </a:xfrm>
              <a:prstGeom prst="round2DiagRect">
                <a:avLst>
                  <a:gd name="adj1" fmla="val 38481"/>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5375306" y="961520"/>
                <a:ext cx="1278358" cy="646331"/>
              </a:xfrm>
              <a:prstGeom prst="rect">
                <a:avLst/>
              </a:prstGeom>
              <a:noFill/>
            </p:spPr>
            <p:txBody>
              <a:bodyPr wrap="square">
                <a:spAutoFit/>
              </a:bodyPr>
              <a:lstStyle/>
              <a:p>
                <a:pPr algn="ctr" rtl="0"/>
                <a:r>
                  <a:rPr lang="en-US" altLang="zh-CN" sz="3600" b="1" i="0" dirty="0">
                    <a:solidFill>
                      <a:schemeClr val="bg1"/>
                    </a:solidFill>
                    <a:effectLst/>
                    <a:latin typeface="思源宋体 CN Heavy" pitchFamily="18" charset="-122"/>
                    <a:ea typeface="思源宋体 CN Heavy" pitchFamily="18" charset="-122"/>
                    <a:sym typeface="汉仪中宋S" panose="00020600040101010101" pitchFamily="18" charset="-122"/>
                  </a:rPr>
                  <a:t>04</a:t>
                </a:r>
              </a:p>
            </p:txBody>
          </p:sp>
          <p:sp>
            <p:nvSpPr>
              <p:cNvPr id="74" name="文本框 73"/>
              <p:cNvSpPr txBox="1"/>
              <p:nvPr/>
            </p:nvSpPr>
            <p:spPr>
              <a:xfrm>
                <a:off x="6730159" y="849335"/>
                <a:ext cx="2942010" cy="523220"/>
              </a:xfrm>
              <a:prstGeom prst="rect">
                <a:avLst/>
              </a:prstGeom>
              <a:noFill/>
            </p:spPr>
            <p:txBody>
              <a:bodyPr wrap="square">
                <a:spAutoFit/>
              </a:bodyPr>
              <a:lstStyle/>
              <a:p>
                <a:r>
                  <a:rPr lang="zh-CN" altLang="en-US" sz="2800" b="1" dirty="0">
                    <a:latin typeface="思源宋体 CN Heavy" pitchFamily="18" charset="-122"/>
                    <a:ea typeface="思源宋体 CN Heavy" pitchFamily="18" charset="-122"/>
                    <a:sym typeface="汉仪中宋S" panose="00020600040101010101" pitchFamily="18" charset="-122"/>
                  </a:rPr>
                  <a:t>未来养老模式</a:t>
                </a:r>
              </a:p>
            </p:txBody>
          </p:sp>
          <p:sp>
            <p:nvSpPr>
              <p:cNvPr id="75" name="文本框 74"/>
              <p:cNvSpPr txBox="1"/>
              <p:nvPr/>
            </p:nvSpPr>
            <p:spPr>
              <a:xfrm>
                <a:off x="6730158" y="1336742"/>
                <a:ext cx="4301953" cy="385298"/>
              </a:xfrm>
              <a:prstGeom prst="rect">
                <a:avLst/>
              </a:prstGeom>
              <a:noFill/>
            </p:spPr>
            <p:txBody>
              <a:bodyPr wrap="square">
                <a:spAutoFit/>
              </a:bodyPr>
              <a:lstStyle/>
              <a:p>
                <a:pPr>
                  <a:lnSpc>
                    <a:spcPct val="150000"/>
                  </a:lnSpc>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Abel"/>
                    <a:sym typeface="汉仪旗黑X1-55W" panose="00020600040101010101" pitchFamily="18" charset="-122"/>
                  </a:rPr>
                  <a:t>Here you could describe the topic of the section.</a:t>
                </a:r>
                <a:r>
                  <a:rPr lang="en-US" altLang="zh-CN" sz="1400" dirty="0">
                    <a:solidFill>
                      <a:schemeClr val="bg1">
                        <a:lumMod val="50000"/>
                      </a:schemeClr>
                    </a:solidFill>
                    <a:latin typeface="微软雅黑" panose="020B0503020204020204" pitchFamily="34" charset="-122"/>
                    <a:ea typeface="微软雅黑" panose="020B0503020204020204" pitchFamily="34" charset="-122"/>
                    <a:sym typeface="汉仪旗黑X1-55W" panose="00020600040101010101" pitchFamily="18" charset="-122"/>
                  </a:rPr>
                  <a:t> </a:t>
                </a:r>
              </a:p>
            </p:txBody>
          </p:sp>
        </p:grpSp>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76225" y="314885"/>
            <a:ext cx="11639550" cy="6228231"/>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168431" y="6075650"/>
            <a:ext cx="746290" cy="578097"/>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383649" y="165961"/>
            <a:ext cx="746290" cy="578097"/>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3" name="矩形: 对角圆角 52"/>
          <p:cNvSpPr/>
          <p:nvPr/>
        </p:nvSpPr>
        <p:spPr>
          <a:xfrm>
            <a:off x="541576" y="203640"/>
            <a:ext cx="672411" cy="55802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32031" y="1107110"/>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0870079" y="5565586"/>
            <a:ext cx="942914" cy="1041817"/>
            <a:chOff x="5696236" y="5459920"/>
            <a:chExt cx="661068" cy="730408"/>
          </a:xfrm>
        </p:grpSpPr>
        <p:sp>
          <p:nvSpPr>
            <p:cNvPr id="55" name="矩形: 对角圆角 54"/>
            <p:cNvSpPr/>
            <p:nvPr/>
          </p:nvSpPr>
          <p:spPr>
            <a:xfrm>
              <a:off x="6014101" y="5459920"/>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2419471" y="1634416"/>
            <a:ext cx="7353058" cy="3589169"/>
            <a:chOff x="2419471" y="2138652"/>
            <a:chExt cx="7353058" cy="3589169"/>
          </a:xfrm>
        </p:grpSpPr>
        <p:sp>
          <p:nvSpPr>
            <p:cNvPr id="15" name="矩形: 圆角 14"/>
            <p:cNvSpPr/>
            <p:nvPr/>
          </p:nvSpPr>
          <p:spPr>
            <a:xfrm>
              <a:off x="5129151" y="2152995"/>
              <a:ext cx="1933698" cy="494535"/>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2419471" y="3005645"/>
              <a:ext cx="7353058" cy="2722176"/>
              <a:chOff x="5130566" y="2399245"/>
              <a:chExt cx="7353058" cy="2722176"/>
            </a:xfrm>
          </p:grpSpPr>
          <p:sp>
            <p:nvSpPr>
              <p:cNvPr id="12" name="矩形: 对角圆角 11"/>
              <p:cNvSpPr/>
              <p:nvPr/>
            </p:nvSpPr>
            <p:spPr>
              <a:xfrm>
                <a:off x="5819706" y="2399245"/>
                <a:ext cx="5974779" cy="106020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5819705" y="4221688"/>
                <a:ext cx="5974780" cy="899733"/>
              </a:xfrm>
              <a:prstGeom prst="rect">
                <a:avLst/>
              </a:prstGeom>
              <a:noFill/>
            </p:spPr>
            <p:txBody>
              <a:bodyPr wrap="square">
                <a:spAutoFit/>
              </a:bodyPr>
              <a:lstStyle/>
              <a:p>
                <a:pPr algn="ctr">
                  <a:lnSpc>
                    <a:spcPct val="150000"/>
                  </a:lnSpc>
                  <a:spcBef>
                    <a:spcPts val="800"/>
                  </a:spcBef>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OPPOSans R" panose="00020600040101010101" pitchFamily="18" charset="-122"/>
                    <a:sym typeface="汉仪旗黑X1-55W" panose="00020600040101010101" pitchFamily="18" charset="-122"/>
                  </a:rPr>
                  <a:t>It could be the part of the presentation where you can introduce your company or agency. It could be the part of the presentation where you can introduce your company or agency. </a:t>
                </a:r>
              </a:p>
            </p:txBody>
          </p:sp>
          <p:sp>
            <p:nvSpPr>
              <p:cNvPr id="21" name="文本框 20"/>
              <p:cNvSpPr txBox="1"/>
              <p:nvPr/>
            </p:nvSpPr>
            <p:spPr>
              <a:xfrm>
                <a:off x="5315220" y="2505780"/>
                <a:ext cx="6983750" cy="923330"/>
              </a:xfrm>
              <a:prstGeom prst="rect">
                <a:avLst/>
              </a:prstGeom>
              <a:noFill/>
            </p:spPr>
            <p:txBody>
              <a:bodyPr wrap="square">
                <a:spAutoFit/>
              </a:bodyPr>
              <a:lstStyle/>
              <a:p>
                <a:pPr algn="ctr"/>
                <a:r>
                  <a:rPr lang="zh-CN" altLang="en-US" sz="54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智慧养老的发展</a:t>
                </a:r>
              </a:p>
            </p:txBody>
          </p:sp>
          <p:cxnSp>
            <p:nvCxnSpPr>
              <p:cNvPr id="24" name="直接连接符 23"/>
              <p:cNvCxnSpPr/>
              <p:nvPr/>
            </p:nvCxnSpPr>
            <p:spPr>
              <a:xfrm>
                <a:off x="6035329" y="4092920"/>
                <a:ext cx="5543533" cy="0"/>
              </a:xfrm>
              <a:prstGeom prst="line">
                <a:avLst/>
              </a:prstGeom>
              <a:ln w="12700">
                <a:solidFill>
                  <a:srgbClr val="0A3181"/>
                </a:solidFill>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5130566" y="3506739"/>
                <a:ext cx="7353058" cy="523220"/>
              </a:xfrm>
              <a:prstGeom prst="rect">
                <a:avLst/>
              </a:prstGeom>
              <a:noFill/>
            </p:spPr>
            <p:txBody>
              <a:bodyPr wrap="square">
                <a:spAutoFit/>
              </a:bodyPr>
              <a:lstStyle/>
              <a:p>
                <a:pPr algn="ctr"/>
                <a:r>
                  <a:rPr lang="en-US" altLang="zh-CN" sz="28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Development of smart pension</a:t>
                </a:r>
                <a:endParaRPr lang="zh-CN" altLang="en-US" sz="28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sp>
          <p:nvSpPr>
            <p:cNvPr id="58" name="文本框 57"/>
            <p:cNvSpPr txBox="1"/>
            <p:nvPr/>
          </p:nvSpPr>
          <p:spPr>
            <a:xfrm>
              <a:off x="4209965" y="2138652"/>
              <a:ext cx="3772070" cy="523220"/>
            </a:xfrm>
            <a:prstGeom prst="rect">
              <a:avLst/>
            </a:prstGeom>
            <a:noFill/>
          </p:spPr>
          <p:txBody>
            <a:bodyPr wrap="square">
              <a:spAutoFit/>
            </a:bodyPr>
            <a:lstStyle/>
            <a:p>
              <a:pPr algn="ctr" rtl="0"/>
              <a:r>
                <a:rPr lang="en-US" altLang="zh-CN" sz="2800" b="1" i="0" dirty="0">
                  <a:solidFill>
                    <a:schemeClr val="bg1"/>
                  </a:solidFill>
                  <a:effectLst/>
                  <a:latin typeface="思源宋体 CN Heavy" pitchFamily="18" charset="-122"/>
                  <a:ea typeface="思源宋体 CN Heavy" pitchFamily="18" charset="-122"/>
                  <a:sym typeface="汉仪中宋S" panose="00020600040101010101" pitchFamily="18" charset="-122"/>
                </a:rPr>
                <a:t>Part 01</a:t>
              </a:r>
            </a:p>
          </p:txBody>
        </p:sp>
      </p:gr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图片 59"/>
          <p:cNvPicPr>
            <a:picLocks noChangeAspect="1"/>
          </p:cNvPicPr>
          <p:nvPr/>
        </p:nvPicPr>
        <p:blipFill>
          <a:blip r:embed="rId2">
            <a:extLst>
              <a:ext uri="{28A0092B-C50C-407E-A947-70E740481C1C}">
                <a14:useLocalDpi xmlns:a14="http://schemas.microsoft.com/office/drawing/2010/main" val="0"/>
              </a:ext>
            </a:extLst>
          </a:blip>
          <a:srcRect l="15567" r="631"/>
          <a:stretch>
            <a:fillRect/>
          </a:stretch>
        </p:blipFill>
        <p:spPr>
          <a:xfrm>
            <a:off x="153491" y="1821448"/>
            <a:ext cx="4932859" cy="3924246"/>
          </a:xfrm>
          <a:custGeom>
            <a:avLst/>
            <a:gdLst>
              <a:gd name="connsiteX0" fmla="*/ 0 w 9085006"/>
              <a:gd name="connsiteY0" fmla="*/ 0 h 6857999"/>
              <a:gd name="connsiteX1" fmla="*/ 5656005 w 9085006"/>
              <a:gd name="connsiteY1" fmla="*/ 0 h 6857999"/>
              <a:gd name="connsiteX2" fmla="*/ 9085006 w 9085006"/>
              <a:gd name="connsiteY2" fmla="*/ 3429001 h 6857999"/>
              <a:gd name="connsiteX3" fmla="*/ 5832461 w 9085006"/>
              <a:gd name="connsiteY3" fmla="*/ 6853540 h 6857999"/>
              <a:gd name="connsiteX4" fmla="*/ 5656127 w 9085006"/>
              <a:gd name="connsiteY4" fmla="*/ 6857999 h 6857999"/>
              <a:gd name="connsiteX5" fmla="*/ 0 w 9085006"/>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5006" h="6857999">
                <a:moveTo>
                  <a:pt x="0" y="0"/>
                </a:moveTo>
                <a:lnTo>
                  <a:pt x="5656005" y="0"/>
                </a:lnTo>
                <a:cubicBezTo>
                  <a:pt x="7549790" y="0"/>
                  <a:pt x="9085006" y="1535216"/>
                  <a:pt x="9085006" y="3429001"/>
                </a:cubicBezTo>
                <a:cubicBezTo>
                  <a:pt x="9085006" y="5263605"/>
                  <a:pt x="7644242" y="6761701"/>
                  <a:pt x="5832461" y="6853540"/>
                </a:cubicBezTo>
                <a:lnTo>
                  <a:pt x="5656127" y="6857999"/>
                </a:lnTo>
                <a:lnTo>
                  <a:pt x="0" y="6857999"/>
                </a:lnTo>
                <a:close/>
              </a:path>
            </a:pathLst>
          </a:custGeom>
        </p:spPr>
      </p:pic>
      <p:sp>
        <p:nvSpPr>
          <p:cNvPr id="10" name="矩形 9"/>
          <p:cNvSpPr/>
          <p:nvPr/>
        </p:nvSpPr>
        <p:spPr>
          <a:xfrm>
            <a:off x="169143" y="157442"/>
            <a:ext cx="11853714" cy="6543116"/>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4430" y="6425451"/>
            <a:ext cx="513631" cy="397873"/>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616307" y="165961"/>
            <a:ext cx="513631" cy="397873"/>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 name="组合 3"/>
          <p:cNvGrpSpPr/>
          <p:nvPr/>
        </p:nvGrpSpPr>
        <p:grpSpPr>
          <a:xfrm>
            <a:off x="301246" y="239134"/>
            <a:ext cx="267971" cy="485137"/>
            <a:chOff x="513690" y="203640"/>
            <a:chExt cx="479247" cy="867633"/>
          </a:xfrm>
        </p:grpSpPr>
        <p:sp>
          <p:nvSpPr>
            <p:cNvPr id="53" name="矩形: 对角圆角 52"/>
            <p:cNvSpPr/>
            <p:nvPr/>
          </p:nvSpPr>
          <p:spPr>
            <a:xfrm>
              <a:off x="541576" y="203640"/>
              <a:ext cx="451361" cy="374575"/>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13690" y="784342"/>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1487194" y="6169223"/>
            <a:ext cx="453850" cy="438182"/>
            <a:chOff x="5696236" y="5552082"/>
            <a:chExt cx="661068" cy="638246"/>
          </a:xfrm>
        </p:grpSpPr>
        <p:sp>
          <p:nvSpPr>
            <p:cNvPr id="55" name="矩形: 对角圆角 54"/>
            <p:cNvSpPr/>
            <p:nvPr/>
          </p:nvSpPr>
          <p:spPr>
            <a:xfrm>
              <a:off x="6014101" y="5552082"/>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3598856" y="383921"/>
            <a:ext cx="4994288" cy="859417"/>
            <a:chOff x="6309951" y="2453552"/>
            <a:chExt cx="4994288" cy="859417"/>
          </a:xfrm>
        </p:grpSpPr>
        <p:sp>
          <p:nvSpPr>
            <p:cNvPr id="12" name="矩形: 对角圆角 11"/>
            <p:cNvSpPr/>
            <p:nvPr/>
          </p:nvSpPr>
          <p:spPr>
            <a:xfrm>
              <a:off x="7540270" y="2453552"/>
              <a:ext cx="2533650" cy="49409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435370" y="2469766"/>
              <a:ext cx="4743450" cy="461665"/>
            </a:xfrm>
            <a:prstGeom prst="rect">
              <a:avLst/>
            </a:prstGeom>
            <a:noFill/>
          </p:spPr>
          <p:txBody>
            <a:bodyPr wrap="square">
              <a:spAutoFit/>
            </a:bodyPr>
            <a:lstStyle/>
            <a:p>
              <a:pPr algn="ctr"/>
              <a:r>
                <a:rPr lang="zh-CN" altLang="en-US" sz="24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智慧养老的发展</a:t>
              </a:r>
            </a:p>
          </p:txBody>
        </p:sp>
        <p:sp>
          <p:nvSpPr>
            <p:cNvPr id="57" name="文本框 56"/>
            <p:cNvSpPr txBox="1"/>
            <p:nvPr/>
          </p:nvSpPr>
          <p:spPr>
            <a:xfrm>
              <a:off x="6309951" y="2974415"/>
              <a:ext cx="4994288" cy="338554"/>
            </a:xfrm>
            <a:prstGeom prst="rect">
              <a:avLst/>
            </a:prstGeom>
            <a:noFill/>
          </p:spPr>
          <p:txBody>
            <a:bodyPr wrap="square">
              <a:spAutoFit/>
            </a:bodyPr>
            <a:lstStyle/>
            <a:p>
              <a:pPr algn="ctr"/>
              <a:r>
                <a:rPr lang="en-US" altLang="zh-CN"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Development of smart pension</a:t>
              </a:r>
              <a:endParaRPr lang="zh-CN" altLang="en-US"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sp>
        <p:nvSpPr>
          <p:cNvPr id="52" name="文本框 9"/>
          <p:cNvSpPr txBox="1"/>
          <p:nvPr/>
        </p:nvSpPr>
        <p:spPr>
          <a:xfrm>
            <a:off x="5468714" y="2049820"/>
            <a:ext cx="6723286"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b="1" dirty="0">
                <a:solidFill>
                  <a:srgbClr val="086DCE"/>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智慧养老的发展</a:t>
            </a:r>
          </a:p>
        </p:txBody>
      </p:sp>
      <p:sp>
        <p:nvSpPr>
          <p:cNvPr id="59" name="文本框 58"/>
          <p:cNvSpPr txBox="1"/>
          <p:nvPr/>
        </p:nvSpPr>
        <p:spPr>
          <a:xfrm>
            <a:off x="5468714" y="2634595"/>
            <a:ext cx="6018480" cy="1680653"/>
          </a:xfrm>
          <a:prstGeom prst="rect">
            <a:avLst/>
          </a:prstGeom>
          <a:noFill/>
        </p:spPr>
        <p:txBody>
          <a:bodyPr wrap="square">
            <a:spAutoFit/>
          </a:bodyPr>
          <a:lstStyle/>
          <a:p>
            <a:pPr>
              <a:lnSpc>
                <a:spcPct val="150000"/>
              </a:lnSpc>
            </a:pPr>
            <a:r>
              <a:rPr lang="en-GB" altLang="zh-CN" sz="1400" dirty="0">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Mercury—and its atmosphere is extremely poisonous. Venus has a beautiful name and is the second planet from the Sun. It’s terribly hot—even hotter than Mercury—and its atmosphere is extremely poisonous.</a:t>
            </a:r>
            <a:endParaRPr lang="zh-CN" altLang="en-US" sz="1400" dirty="0">
              <a:latin typeface="微软雅黑" panose="020B0503020204020204" pitchFamily="34" charset="-122"/>
              <a:ea typeface="微软雅黑" panose="020B0503020204020204" pitchFamily="34" charset="-122"/>
              <a:sym typeface="汉仪旗黑X1-55W" panose="00020600040101010101" pitchFamily="18" charset="-122"/>
            </a:endParaRPr>
          </a:p>
        </p:txBody>
      </p:sp>
      <p:grpSp>
        <p:nvGrpSpPr>
          <p:cNvPr id="8" name="组合 7"/>
          <p:cNvGrpSpPr/>
          <p:nvPr/>
        </p:nvGrpSpPr>
        <p:grpSpPr>
          <a:xfrm>
            <a:off x="5489452" y="4744817"/>
            <a:ext cx="5561813" cy="494535"/>
            <a:chOff x="5489452" y="4593117"/>
            <a:chExt cx="5561813" cy="494535"/>
          </a:xfrm>
        </p:grpSpPr>
        <p:grpSp>
          <p:nvGrpSpPr>
            <p:cNvPr id="7" name="组合 6"/>
            <p:cNvGrpSpPr/>
            <p:nvPr/>
          </p:nvGrpSpPr>
          <p:grpSpPr>
            <a:xfrm>
              <a:off x="5489452" y="4593117"/>
              <a:ext cx="1609848" cy="494535"/>
              <a:chOff x="5489452" y="4593117"/>
              <a:chExt cx="1609848" cy="494535"/>
            </a:xfrm>
          </p:grpSpPr>
          <p:sp>
            <p:nvSpPr>
              <p:cNvPr id="61" name="矩形: 圆角 60"/>
              <p:cNvSpPr/>
              <p:nvPr/>
            </p:nvSpPr>
            <p:spPr>
              <a:xfrm>
                <a:off x="5489452" y="4593117"/>
                <a:ext cx="1609848" cy="494535"/>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5489452" y="4640329"/>
                <a:ext cx="1609848" cy="400110"/>
              </a:xfrm>
              <a:prstGeom prst="rect">
                <a:avLst/>
              </a:prstGeom>
              <a:noFill/>
            </p:spPr>
            <p:txBody>
              <a:bodyPr wrap="squar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关键词</a:t>
                </a:r>
              </a:p>
            </p:txBody>
          </p:sp>
        </p:grpSp>
        <p:grpSp>
          <p:nvGrpSpPr>
            <p:cNvPr id="69" name="组合 68"/>
            <p:cNvGrpSpPr/>
            <p:nvPr/>
          </p:nvGrpSpPr>
          <p:grpSpPr>
            <a:xfrm>
              <a:off x="7465434" y="4593117"/>
              <a:ext cx="1609848" cy="494535"/>
              <a:chOff x="5489452" y="4593117"/>
              <a:chExt cx="1609848" cy="494535"/>
            </a:xfrm>
          </p:grpSpPr>
          <p:sp>
            <p:nvSpPr>
              <p:cNvPr id="70" name="矩形: 圆角 69"/>
              <p:cNvSpPr/>
              <p:nvPr/>
            </p:nvSpPr>
            <p:spPr>
              <a:xfrm>
                <a:off x="5489452" y="4593117"/>
                <a:ext cx="1609848" cy="494535"/>
              </a:xfrm>
              <a:prstGeom prst="roundRect">
                <a:avLst>
                  <a:gd name="adj" fmla="val 5000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5489452" y="4640329"/>
                <a:ext cx="1609848" cy="400110"/>
              </a:xfrm>
              <a:prstGeom prst="rect">
                <a:avLst/>
              </a:prstGeom>
              <a:noFill/>
            </p:spPr>
            <p:txBody>
              <a:bodyPr wrap="squar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关键词</a:t>
                </a:r>
              </a:p>
            </p:txBody>
          </p:sp>
        </p:grpSp>
        <p:grpSp>
          <p:nvGrpSpPr>
            <p:cNvPr id="72" name="组合 71"/>
            <p:cNvGrpSpPr/>
            <p:nvPr/>
          </p:nvGrpSpPr>
          <p:grpSpPr>
            <a:xfrm>
              <a:off x="9441417" y="4593117"/>
              <a:ext cx="1609848" cy="494535"/>
              <a:chOff x="5489452" y="4593117"/>
              <a:chExt cx="1609848" cy="494535"/>
            </a:xfrm>
          </p:grpSpPr>
          <p:sp>
            <p:nvSpPr>
              <p:cNvPr id="73" name="矩形: 圆角 72"/>
              <p:cNvSpPr/>
              <p:nvPr/>
            </p:nvSpPr>
            <p:spPr>
              <a:xfrm>
                <a:off x="5489452" y="4593117"/>
                <a:ext cx="1609848" cy="494535"/>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p:cNvSpPr txBox="1"/>
              <p:nvPr/>
            </p:nvSpPr>
            <p:spPr>
              <a:xfrm>
                <a:off x="5489452" y="4640329"/>
                <a:ext cx="1609848" cy="400110"/>
              </a:xfrm>
              <a:prstGeom prst="rect">
                <a:avLst/>
              </a:prstGeom>
              <a:noFill/>
            </p:spPr>
            <p:txBody>
              <a:bodyPr wrap="squar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关键词</a:t>
                </a:r>
              </a:p>
            </p:txBody>
          </p:sp>
        </p:gr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69143" y="157442"/>
            <a:ext cx="11853714" cy="6543116"/>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nvGrpSpPr>
          <p:cNvPr id="26" name="组合 25"/>
          <p:cNvGrpSpPr/>
          <p:nvPr/>
        </p:nvGrpSpPr>
        <p:grpSpPr>
          <a:xfrm>
            <a:off x="44430" y="6425451"/>
            <a:ext cx="513631" cy="397873"/>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grpSp>
        <p:nvGrpSpPr>
          <p:cNvPr id="39" name="组合 38"/>
          <p:cNvGrpSpPr/>
          <p:nvPr/>
        </p:nvGrpSpPr>
        <p:grpSpPr>
          <a:xfrm>
            <a:off x="11616307" y="165961"/>
            <a:ext cx="513631" cy="397873"/>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grpSp>
        <p:nvGrpSpPr>
          <p:cNvPr id="4" name="组合 3"/>
          <p:cNvGrpSpPr/>
          <p:nvPr/>
        </p:nvGrpSpPr>
        <p:grpSpPr>
          <a:xfrm>
            <a:off x="301246" y="239134"/>
            <a:ext cx="267971" cy="485137"/>
            <a:chOff x="513690" y="203640"/>
            <a:chExt cx="479247" cy="867633"/>
          </a:xfrm>
        </p:grpSpPr>
        <p:sp>
          <p:nvSpPr>
            <p:cNvPr id="53" name="矩形: 对角圆角 52"/>
            <p:cNvSpPr/>
            <p:nvPr/>
          </p:nvSpPr>
          <p:spPr>
            <a:xfrm>
              <a:off x="541576" y="203640"/>
              <a:ext cx="451361" cy="374575"/>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4" name="矩形: 对角圆角 53"/>
            <p:cNvSpPr/>
            <p:nvPr/>
          </p:nvSpPr>
          <p:spPr>
            <a:xfrm flipH="1">
              <a:off x="513690" y="784342"/>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2" name="组合 1"/>
          <p:cNvGrpSpPr/>
          <p:nvPr/>
        </p:nvGrpSpPr>
        <p:grpSpPr>
          <a:xfrm>
            <a:off x="11487194" y="6169223"/>
            <a:ext cx="453850" cy="438182"/>
            <a:chOff x="5696236" y="5552082"/>
            <a:chExt cx="661068" cy="638246"/>
          </a:xfrm>
        </p:grpSpPr>
        <p:sp>
          <p:nvSpPr>
            <p:cNvPr id="55" name="矩形: 对角圆角 54"/>
            <p:cNvSpPr/>
            <p:nvPr/>
          </p:nvSpPr>
          <p:spPr>
            <a:xfrm>
              <a:off x="6014101" y="5552082"/>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9" name="组合 8"/>
          <p:cNvGrpSpPr/>
          <p:nvPr/>
        </p:nvGrpSpPr>
        <p:grpSpPr>
          <a:xfrm>
            <a:off x="4381448" y="2481536"/>
            <a:ext cx="3429105" cy="2476500"/>
            <a:chOff x="4381448" y="2190750"/>
            <a:chExt cx="3429105" cy="2476500"/>
          </a:xfrm>
        </p:grpSpPr>
        <p:sp>
          <p:nvSpPr>
            <p:cNvPr id="5" name="椭圆 4"/>
            <p:cNvSpPr/>
            <p:nvPr/>
          </p:nvSpPr>
          <p:spPr>
            <a:xfrm>
              <a:off x="4857750" y="2190750"/>
              <a:ext cx="2476500" cy="2476500"/>
            </a:xfrm>
            <a:prstGeom prst="ellipse">
              <a:avLst/>
            </a:prstGeom>
            <a:noFill/>
            <a:ln w="19050">
              <a:solidFill>
                <a:srgbClr val="086D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2" name="椭圆 51"/>
            <p:cNvSpPr/>
            <p:nvPr/>
          </p:nvSpPr>
          <p:spPr>
            <a:xfrm>
              <a:off x="5019675" y="2352675"/>
              <a:ext cx="2152650" cy="2152650"/>
            </a:xfrm>
            <a:prstGeom prst="ellipse">
              <a:avLst/>
            </a:prstGeom>
            <a:noFill/>
            <a:ln w="38100">
              <a:solidFill>
                <a:srgbClr val="FFB3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nvGrpSpPr>
            <p:cNvPr id="8" name="组合 7"/>
            <p:cNvGrpSpPr/>
            <p:nvPr/>
          </p:nvGrpSpPr>
          <p:grpSpPr>
            <a:xfrm>
              <a:off x="4381448" y="2279396"/>
              <a:ext cx="3429105" cy="2299208"/>
              <a:chOff x="4400655" y="2368989"/>
              <a:chExt cx="3429105" cy="2299208"/>
            </a:xfrm>
          </p:grpSpPr>
          <p:grpSp>
            <p:nvGrpSpPr>
              <p:cNvPr id="6" name="组合 5"/>
              <p:cNvGrpSpPr/>
              <p:nvPr/>
            </p:nvGrpSpPr>
            <p:grpSpPr>
              <a:xfrm>
                <a:off x="4400655" y="2368989"/>
                <a:ext cx="1365223" cy="641858"/>
                <a:chOff x="4400655" y="2368989"/>
                <a:chExt cx="1365223" cy="641858"/>
              </a:xfrm>
            </p:grpSpPr>
            <p:sp>
              <p:nvSpPr>
                <p:cNvPr id="60" name="矩形: 对角圆角 59"/>
                <p:cNvSpPr/>
                <p:nvPr/>
              </p:nvSpPr>
              <p:spPr>
                <a:xfrm flipH="1">
                  <a:off x="4696551" y="2368989"/>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61" name="文本框 9"/>
                <p:cNvSpPr txBox="1"/>
                <p:nvPr/>
              </p:nvSpPr>
              <p:spPr>
                <a:xfrm>
                  <a:off x="4400655" y="2428308"/>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01</a:t>
                  </a:r>
                  <a:endParaRPr kumimoji="0" lang="zh-CN" altLang="en-US"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nvGrpSpPr>
              <p:cNvPr id="63" name="组合 62"/>
              <p:cNvGrpSpPr/>
              <p:nvPr/>
            </p:nvGrpSpPr>
            <p:grpSpPr>
              <a:xfrm>
                <a:off x="4400655" y="4026339"/>
                <a:ext cx="1365223" cy="641858"/>
                <a:chOff x="4400655" y="2368989"/>
                <a:chExt cx="1365223" cy="641858"/>
              </a:xfrm>
            </p:grpSpPr>
            <p:sp>
              <p:nvSpPr>
                <p:cNvPr id="64" name="矩形: 对角圆角 63"/>
                <p:cNvSpPr/>
                <p:nvPr/>
              </p:nvSpPr>
              <p:spPr>
                <a:xfrm>
                  <a:off x="4696551" y="2368989"/>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65" name="文本框 9"/>
                <p:cNvSpPr txBox="1"/>
                <p:nvPr/>
              </p:nvSpPr>
              <p:spPr>
                <a:xfrm>
                  <a:off x="4400655" y="2428308"/>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02</a:t>
                  </a:r>
                  <a:endParaRPr kumimoji="0" lang="zh-CN" altLang="en-US"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nvGrpSpPr>
              <p:cNvPr id="7" name="组合 6"/>
              <p:cNvGrpSpPr/>
              <p:nvPr/>
            </p:nvGrpSpPr>
            <p:grpSpPr>
              <a:xfrm>
                <a:off x="6464537" y="2368989"/>
                <a:ext cx="1365223" cy="2299208"/>
                <a:chOff x="6534255" y="2368989"/>
                <a:chExt cx="1365223" cy="2299208"/>
              </a:xfrm>
            </p:grpSpPr>
            <p:grpSp>
              <p:nvGrpSpPr>
                <p:cNvPr id="68" name="组合 67"/>
                <p:cNvGrpSpPr/>
                <p:nvPr/>
              </p:nvGrpSpPr>
              <p:grpSpPr>
                <a:xfrm>
                  <a:off x="6534255" y="2368989"/>
                  <a:ext cx="1365223" cy="641858"/>
                  <a:chOff x="4400655" y="2368989"/>
                  <a:chExt cx="1365223" cy="641858"/>
                </a:xfrm>
              </p:grpSpPr>
              <p:sp>
                <p:nvSpPr>
                  <p:cNvPr id="69" name="矩形: 对角圆角 68"/>
                  <p:cNvSpPr/>
                  <p:nvPr/>
                </p:nvSpPr>
                <p:spPr>
                  <a:xfrm>
                    <a:off x="4696551" y="2368989"/>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70" name="文本框 9"/>
                  <p:cNvSpPr txBox="1"/>
                  <p:nvPr/>
                </p:nvSpPr>
                <p:spPr>
                  <a:xfrm>
                    <a:off x="4400655" y="2428308"/>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03</a:t>
                    </a:r>
                    <a:endParaRPr kumimoji="0" lang="zh-CN" altLang="en-US"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nvGrpSpPr>
                <p:cNvPr id="71" name="组合 70"/>
                <p:cNvGrpSpPr/>
                <p:nvPr/>
              </p:nvGrpSpPr>
              <p:grpSpPr>
                <a:xfrm>
                  <a:off x="6534255" y="4026339"/>
                  <a:ext cx="1365223" cy="641858"/>
                  <a:chOff x="4400655" y="2368989"/>
                  <a:chExt cx="1365223" cy="641858"/>
                </a:xfrm>
              </p:grpSpPr>
              <p:sp>
                <p:nvSpPr>
                  <p:cNvPr id="72" name="矩形: 对角圆角 71"/>
                  <p:cNvSpPr/>
                  <p:nvPr/>
                </p:nvSpPr>
                <p:spPr>
                  <a:xfrm flipH="1">
                    <a:off x="4696551" y="2368989"/>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73" name="文本框 9"/>
                  <p:cNvSpPr txBox="1"/>
                  <p:nvPr/>
                </p:nvSpPr>
                <p:spPr>
                  <a:xfrm>
                    <a:off x="4400655" y="2428308"/>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04</a:t>
                    </a:r>
                    <a:endParaRPr kumimoji="0" lang="zh-CN" altLang="en-US"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grpSp>
      </p:grpSp>
      <p:sp>
        <p:nvSpPr>
          <p:cNvPr id="58" name="文本框 9"/>
          <p:cNvSpPr txBox="1"/>
          <p:nvPr/>
        </p:nvSpPr>
        <p:spPr>
          <a:xfrm>
            <a:off x="1757976" y="1976087"/>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A3181"/>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59" name="文本框 58"/>
          <p:cNvSpPr txBox="1"/>
          <p:nvPr/>
        </p:nvSpPr>
        <p:spPr>
          <a:xfrm>
            <a:off x="815149" y="2428308"/>
            <a:ext cx="3486255" cy="899733"/>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GB"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rPr>
              <a:t>Venus has a beautiful name and is the second planet from the Sun. It’s terribly hot—even hotter than Mercury</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endParaRPr>
          </a:p>
        </p:txBody>
      </p:sp>
      <p:sp>
        <p:nvSpPr>
          <p:cNvPr id="66" name="文本框 9"/>
          <p:cNvSpPr txBox="1"/>
          <p:nvPr/>
        </p:nvSpPr>
        <p:spPr>
          <a:xfrm>
            <a:off x="1757976" y="4223987"/>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A3181"/>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67" name="文本框 66"/>
          <p:cNvSpPr txBox="1"/>
          <p:nvPr/>
        </p:nvSpPr>
        <p:spPr>
          <a:xfrm>
            <a:off x="815149" y="4676208"/>
            <a:ext cx="3486255" cy="899733"/>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GB"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rPr>
              <a:t>Venus has a beautiful name and is the second planet from the Sun. It’s terribly hot—even hotter than Mercury</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endParaRPr>
          </a:p>
        </p:txBody>
      </p:sp>
      <p:sp>
        <p:nvSpPr>
          <p:cNvPr id="74" name="文本框 9"/>
          <p:cNvSpPr txBox="1"/>
          <p:nvPr/>
        </p:nvSpPr>
        <p:spPr>
          <a:xfrm>
            <a:off x="7890597" y="1976087"/>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A3181"/>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75" name="文本框 74"/>
          <p:cNvSpPr txBox="1"/>
          <p:nvPr/>
        </p:nvSpPr>
        <p:spPr>
          <a:xfrm>
            <a:off x="7890597" y="2428308"/>
            <a:ext cx="3486255" cy="89973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rPr>
              <a:t>Venus has a beautiful name and is the second planet from the Sun. It’s terribly hot—even hotter than Mercury</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endParaRPr>
          </a:p>
        </p:txBody>
      </p:sp>
      <p:sp>
        <p:nvSpPr>
          <p:cNvPr id="76" name="文本框 9"/>
          <p:cNvSpPr txBox="1"/>
          <p:nvPr/>
        </p:nvSpPr>
        <p:spPr>
          <a:xfrm>
            <a:off x="7890597" y="4223987"/>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A3181"/>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77" name="文本框 76"/>
          <p:cNvSpPr txBox="1"/>
          <p:nvPr/>
        </p:nvSpPr>
        <p:spPr>
          <a:xfrm>
            <a:off x="7890597" y="4676208"/>
            <a:ext cx="3486255" cy="89973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rPr>
              <a:t>Venus has a beautiful name and is the second planet from the Sun. It’s terribly hot—even hotter than Mercury</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endParaRPr>
          </a:p>
        </p:txBody>
      </p:sp>
      <p:grpSp>
        <p:nvGrpSpPr>
          <p:cNvPr id="78" name="组合 77">
            <a:extLst>
              <a:ext uri="{FF2B5EF4-FFF2-40B4-BE49-F238E27FC236}">
                <a16:creationId xmlns:a16="http://schemas.microsoft.com/office/drawing/2014/main" xmlns="" id="{4AAE4D32-84F1-4EF2-B826-C2B31AAE68C0}"/>
              </a:ext>
            </a:extLst>
          </p:cNvPr>
          <p:cNvGrpSpPr/>
          <p:nvPr/>
        </p:nvGrpSpPr>
        <p:grpSpPr>
          <a:xfrm>
            <a:off x="3598856" y="383921"/>
            <a:ext cx="4994288" cy="859417"/>
            <a:chOff x="6309951" y="2453552"/>
            <a:chExt cx="4994288" cy="859417"/>
          </a:xfrm>
        </p:grpSpPr>
        <p:sp>
          <p:nvSpPr>
            <p:cNvPr id="79" name="矩形: 对角圆角 78">
              <a:extLst>
                <a:ext uri="{FF2B5EF4-FFF2-40B4-BE49-F238E27FC236}">
                  <a16:creationId xmlns:a16="http://schemas.microsoft.com/office/drawing/2014/main" xmlns="" id="{45ECB111-B048-4EF0-8C4A-F9B96D7ED325}"/>
                </a:ext>
              </a:extLst>
            </p:cNvPr>
            <p:cNvSpPr/>
            <p:nvPr/>
          </p:nvSpPr>
          <p:spPr>
            <a:xfrm>
              <a:off x="7540270" y="2453552"/>
              <a:ext cx="2533650" cy="49409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a:extLst>
                <a:ext uri="{FF2B5EF4-FFF2-40B4-BE49-F238E27FC236}">
                  <a16:creationId xmlns:a16="http://schemas.microsoft.com/office/drawing/2014/main" xmlns="" id="{DB0C678E-DD85-40BF-9690-E2D2AAAC2639}"/>
                </a:ext>
              </a:extLst>
            </p:cNvPr>
            <p:cNvSpPr txBox="1"/>
            <p:nvPr/>
          </p:nvSpPr>
          <p:spPr>
            <a:xfrm>
              <a:off x="6435370" y="2469766"/>
              <a:ext cx="4743450" cy="461665"/>
            </a:xfrm>
            <a:prstGeom prst="rect">
              <a:avLst/>
            </a:prstGeom>
            <a:noFill/>
          </p:spPr>
          <p:txBody>
            <a:bodyPr wrap="square">
              <a:spAutoFit/>
            </a:bodyPr>
            <a:lstStyle/>
            <a:p>
              <a:pPr algn="ctr"/>
              <a:r>
                <a:rPr lang="zh-CN" altLang="en-US" sz="24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智慧养老的发展</a:t>
              </a:r>
            </a:p>
          </p:txBody>
        </p:sp>
        <p:sp>
          <p:nvSpPr>
            <p:cNvPr id="81" name="文本框 80">
              <a:extLst>
                <a:ext uri="{FF2B5EF4-FFF2-40B4-BE49-F238E27FC236}">
                  <a16:creationId xmlns:a16="http://schemas.microsoft.com/office/drawing/2014/main" xmlns="" id="{41F71021-DFE4-4F42-A839-4E100874EE3F}"/>
                </a:ext>
              </a:extLst>
            </p:cNvPr>
            <p:cNvSpPr txBox="1"/>
            <p:nvPr/>
          </p:nvSpPr>
          <p:spPr>
            <a:xfrm>
              <a:off x="6309951" y="2974415"/>
              <a:ext cx="4994288" cy="338554"/>
            </a:xfrm>
            <a:prstGeom prst="rect">
              <a:avLst/>
            </a:prstGeom>
            <a:noFill/>
          </p:spPr>
          <p:txBody>
            <a:bodyPr wrap="square">
              <a:spAutoFit/>
            </a:bodyPr>
            <a:lstStyle/>
            <a:p>
              <a:pPr algn="ctr"/>
              <a:r>
                <a:rPr lang="en-US" altLang="zh-CN"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Development of smart pension</a:t>
              </a:r>
              <a:endParaRPr lang="zh-CN" altLang="en-US"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spTree>
    <p:extLst>
      <p:ext uri="{BB962C8B-B14F-4D97-AF65-F5344CB8AC3E}">
        <p14:creationId xmlns:p14="http://schemas.microsoft.com/office/powerpoint/2010/main" val="416039940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图片 57"/>
          <p:cNvPicPr>
            <a:picLocks noChangeAspect="1"/>
          </p:cNvPicPr>
          <p:nvPr/>
        </p:nvPicPr>
        <p:blipFill>
          <a:blip r:embed="rId2">
            <a:extLst>
              <a:ext uri="{28A0092B-C50C-407E-A947-70E740481C1C}">
                <a14:useLocalDpi xmlns:a14="http://schemas.microsoft.com/office/drawing/2010/main" val="0"/>
              </a:ext>
            </a:extLst>
          </a:blip>
          <a:srcRect l="14374" t="25407" r="14374"/>
          <a:stretch>
            <a:fillRect/>
          </a:stretch>
        </p:blipFill>
        <p:spPr>
          <a:xfrm>
            <a:off x="4467172" y="1742414"/>
            <a:ext cx="3257656" cy="5115587"/>
          </a:xfrm>
          <a:custGeom>
            <a:avLst/>
            <a:gdLst>
              <a:gd name="connsiteX0" fmla="*/ 1628828 w 3257656"/>
              <a:gd name="connsiteY0" fmla="*/ 0 h 5115587"/>
              <a:gd name="connsiteX1" fmla="*/ 3257656 w 3257656"/>
              <a:gd name="connsiteY1" fmla="*/ 1628828 h 5115587"/>
              <a:gd name="connsiteX2" fmla="*/ 3257656 w 3257656"/>
              <a:gd name="connsiteY2" fmla="*/ 5115587 h 5115587"/>
              <a:gd name="connsiteX3" fmla="*/ 0 w 3257656"/>
              <a:gd name="connsiteY3" fmla="*/ 5115587 h 5115587"/>
              <a:gd name="connsiteX4" fmla="*/ 0 w 3257656"/>
              <a:gd name="connsiteY4" fmla="*/ 1628828 h 5115587"/>
              <a:gd name="connsiteX5" fmla="*/ 1628828 w 3257656"/>
              <a:gd name="connsiteY5" fmla="*/ 0 h 511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57655" h="5115587">
                <a:moveTo>
                  <a:pt x="1628828" y="0"/>
                </a:moveTo>
                <a:cubicBezTo>
                  <a:pt x="2528405" y="0"/>
                  <a:pt x="3257656" y="729251"/>
                  <a:pt x="3257656" y="1628828"/>
                </a:cubicBezTo>
                <a:lnTo>
                  <a:pt x="3257656" y="5115587"/>
                </a:lnTo>
                <a:lnTo>
                  <a:pt x="0" y="5115587"/>
                </a:lnTo>
                <a:lnTo>
                  <a:pt x="0" y="1628828"/>
                </a:lnTo>
                <a:cubicBezTo>
                  <a:pt x="0" y="729251"/>
                  <a:pt x="729251" y="0"/>
                  <a:pt x="1628828" y="0"/>
                </a:cubicBezTo>
                <a:close/>
              </a:path>
            </a:pathLst>
          </a:custGeom>
        </p:spPr>
      </p:pic>
      <p:sp>
        <p:nvSpPr>
          <p:cNvPr id="10" name="矩形 9"/>
          <p:cNvSpPr/>
          <p:nvPr/>
        </p:nvSpPr>
        <p:spPr>
          <a:xfrm>
            <a:off x="169143" y="157442"/>
            <a:ext cx="11853714" cy="6543116"/>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4430" y="6425451"/>
            <a:ext cx="513631" cy="397873"/>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616307" y="165961"/>
            <a:ext cx="513631" cy="397873"/>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 name="组合 3"/>
          <p:cNvGrpSpPr/>
          <p:nvPr/>
        </p:nvGrpSpPr>
        <p:grpSpPr>
          <a:xfrm>
            <a:off x="301246" y="239134"/>
            <a:ext cx="267971" cy="485137"/>
            <a:chOff x="513690" y="203640"/>
            <a:chExt cx="479247" cy="867633"/>
          </a:xfrm>
        </p:grpSpPr>
        <p:sp>
          <p:nvSpPr>
            <p:cNvPr id="53" name="矩形: 对角圆角 52"/>
            <p:cNvSpPr/>
            <p:nvPr/>
          </p:nvSpPr>
          <p:spPr>
            <a:xfrm>
              <a:off x="541576" y="203640"/>
              <a:ext cx="451361" cy="374575"/>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13690" y="784342"/>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1487194" y="6169223"/>
            <a:ext cx="453850" cy="438182"/>
            <a:chOff x="5696236" y="5552082"/>
            <a:chExt cx="661068" cy="638246"/>
          </a:xfrm>
        </p:grpSpPr>
        <p:sp>
          <p:nvSpPr>
            <p:cNvPr id="55" name="矩形: 对角圆角 54"/>
            <p:cNvSpPr/>
            <p:nvPr/>
          </p:nvSpPr>
          <p:spPr>
            <a:xfrm>
              <a:off x="6014101" y="5552082"/>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3598856" y="383921"/>
            <a:ext cx="4994288" cy="859417"/>
            <a:chOff x="6309951" y="2453552"/>
            <a:chExt cx="4994288" cy="859417"/>
          </a:xfrm>
        </p:grpSpPr>
        <p:sp>
          <p:nvSpPr>
            <p:cNvPr id="12" name="矩形: 对角圆角 11"/>
            <p:cNvSpPr/>
            <p:nvPr/>
          </p:nvSpPr>
          <p:spPr>
            <a:xfrm>
              <a:off x="7540270" y="2453552"/>
              <a:ext cx="2533650" cy="49409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435370" y="2469766"/>
              <a:ext cx="4743450" cy="461665"/>
            </a:xfrm>
            <a:prstGeom prst="rect">
              <a:avLst/>
            </a:prstGeom>
            <a:noFill/>
          </p:spPr>
          <p:txBody>
            <a:bodyPr wrap="square">
              <a:spAutoFit/>
            </a:bodyPr>
            <a:lstStyle/>
            <a:p>
              <a:pPr algn="ctr"/>
              <a:r>
                <a:rPr lang="zh-CN" altLang="en-US" sz="24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智慧养老的发展</a:t>
              </a:r>
            </a:p>
          </p:txBody>
        </p:sp>
        <p:sp>
          <p:nvSpPr>
            <p:cNvPr id="57" name="文本框 56"/>
            <p:cNvSpPr txBox="1"/>
            <p:nvPr/>
          </p:nvSpPr>
          <p:spPr>
            <a:xfrm>
              <a:off x="6309951" y="2974415"/>
              <a:ext cx="4994288" cy="338554"/>
            </a:xfrm>
            <a:prstGeom prst="rect">
              <a:avLst/>
            </a:prstGeom>
            <a:noFill/>
          </p:spPr>
          <p:txBody>
            <a:bodyPr wrap="square">
              <a:spAutoFit/>
            </a:bodyPr>
            <a:lstStyle/>
            <a:p>
              <a:pPr algn="ctr"/>
              <a:r>
                <a:rPr lang="en-US" altLang="zh-CN"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Development of smart pension</a:t>
              </a:r>
              <a:endParaRPr lang="zh-CN" altLang="en-US"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grpSp>
        <p:nvGrpSpPr>
          <p:cNvPr id="11" name="组合 10"/>
          <p:cNvGrpSpPr/>
          <p:nvPr/>
        </p:nvGrpSpPr>
        <p:grpSpPr>
          <a:xfrm>
            <a:off x="287188" y="1963702"/>
            <a:ext cx="11617624" cy="4181969"/>
            <a:chOff x="208206" y="1963702"/>
            <a:chExt cx="11617624" cy="4181969"/>
          </a:xfrm>
        </p:grpSpPr>
        <p:grpSp>
          <p:nvGrpSpPr>
            <p:cNvPr id="9" name="组合 8"/>
            <p:cNvGrpSpPr/>
            <p:nvPr/>
          </p:nvGrpSpPr>
          <p:grpSpPr>
            <a:xfrm>
              <a:off x="7878169" y="1963702"/>
              <a:ext cx="3947661" cy="4181969"/>
              <a:chOff x="7811494" y="2043285"/>
              <a:chExt cx="3947661" cy="4181969"/>
            </a:xfrm>
          </p:grpSpPr>
          <p:sp>
            <p:nvSpPr>
              <p:cNvPr id="60" name="文本框 9"/>
              <p:cNvSpPr txBox="1"/>
              <p:nvPr/>
            </p:nvSpPr>
            <p:spPr>
              <a:xfrm>
                <a:off x="9061577" y="2206518"/>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a:t>
                </a:r>
              </a:p>
            </p:txBody>
          </p:sp>
          <p:sp>
            <p:nvSpPr>
              <p:cNvPr id="61" name="文本框 60"/>
              <p:cNvSpPr txBox="1"/>
              <p:nvPr/>
            </p:nvSpPr>
            <p:spPr>
              <a:xfrm>
                <a:off x="7988530" y="2810921"/>
                <a:ext cx="3770625" cy="899733"/>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Mercury—and its atmosphere</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nvGrpSpPr>
              <p:cNvPr id="8" name="组合 7"/>
              <p:cNvGrpSpPr/>
              <p:nvPr/>
            </p:nvGrpSpPr>
            <p:grpSpPr>
              <a:xfrm>
                <a:off x="7811494" y="2043285"/>
                <a:ext cx="1365223" cy="641858"/>
                <a:chOff x="7811494" y="2043285"/>
                <a:chExt cx="1365223" cy="641858"/>
              </a:xfrm>
            </p:grpSpPr>
            <p:sp>
              <p:nvSpPr>
                <p:cNvPr id="59" name="矩形: 对角圆角 58"/>
                <p:cNvSpPr/>
                <p:nvPr/>
              </p:nvSpPr>
              <p:spPr>
                <a:xfrm>
                  <a:off x="8107390" y="2043285"/>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9"/>
                <p:cNvSpPr txBox="1"/>
                <p:nvPr/>
              </p:nvSpPr>
              <p:spPr>
                <a:xfrm>
                  <a:off x="7811494" y="2102604"/>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03</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sp>
            <p:nvSpPr>
              <p:cNvPr id="63" name="文本框 9"/>
              <p:cNvSpPr txBox="1"/>
              <p:nvPr/>
            </p:nvSpPr>
            <p:spPr>
              <a:xfrm>
                <a:off x="9061577" y="4721118"/>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a:t>
                </a:r>
              </a:p>
            </p:txBody>
          </p:sp>
          <p:sp>
            <p:nvSpPr>
              <p:cNvPr id="64" name="文本框 63"/>
              <p:cNvSpPr txBox="1"/>
              <p:nvPr/>
            </p:nvSpPr>
            <p:spPr>
              <a:xfrm>
                <a:off x="7988530" y="5325521"/>
                <a:ext cx="3770625" cy="899733"/>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Mercury—and its atmosphere</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nvGrpSpPr>
              <p:cNvPr id="65" name="组合 64"/>
              <p:cNvGrpSpPr/>
              <p:nvPr/>
            </p:nvGrpSpPr>
            <p:grpSpPr>
              <a:xfrm>
                <a:off x="7811494" y="4557885"/>
                <a:ext cx="1365223" cy="641858"/>
                <a:chOff x="7811494" y="2043285"/>
                <a:chExt cx="1365223" cy="641858"/>
              </a:xfrm>
            </p:grpSpPr>
            <p:sp>
              <p:nvSpPr>
                <p:cNvPr id="66" name="矩形: 对角圆角 65"/>
                <p:cNvSpPr/>
                <p:nvPr/>
              </p:nvSpPr>
              <p:spPr>
                <a:xfrm flipV="1">
                  <a:off x="8107390" y="2043285"/>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9"/>
                <p:cNvSpPr txBox="1"/>
                <p:nvPr/>
              </p:nvSpPr>
              <p:spPr>
                <a:xfrm>
                  <a:off x="7811494" y="2102604"/>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04</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grpSp>
          <p:nvGrpSpPr>
            <p:cNvPr id="68" name="组合 67"/>
            <p:cNvGrpSpPr/>
            <p:nvPr/>
          </p:nvGrpSpPr>
          <p:grpSpPr>
            <a:xfrm>
              <a:off x="208206" y="1963702"/>
              <a:ext cx="4078211" cy="4181969"/>
              <a:chOff x="5098506" y="2043285"/>
              <a:chExt cx="4078211" cy="4181969"/>
            </a:xfrm>
          </p:grpSpPr>
          <p:sp>
            <p:nvSpPr>
              <p:cNvPr id="69" name="文本框 9"/>
              <p:cNvSpPr txBox="1"/>
              <p:nvPr/>
            </p:nvSpPr>
            <p:spPr>
              <a:xfrm>
                <a:off x="5396092" y="2206518"/>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a:t>
                </a:r>
              </a:p>
            </p:txBody>
          </p:sp>
          <p:sp>
            <p:nvSpPr>
              <p:cNvPr id="70" name="文本框 69"/>
              <p:cNvSpPr txBox="1"/>
              <p:nvPr/>
            </p:nvSpPr>
            <p:spPr>
              <a:xfrm>
                <a:off x="5098506" y="2810921"/>
                <a:ext cx="3770625" cy="899733"/>
              </a:xfrm>
              <a:prstGeom prst="rect">
                <a:avLst/>
              </a:prstGeom>
              <a:noFill/>
            </p:spPr>
            <p:txBody>
              <a:bodyPr wrap="square">
                <a:spAutoFit/>
              </a:bodyPr>
              <a:lstStyle/>
              <a:p>
                <a:pPr algn="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Mercury—and its atmosphere</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nvGrpSpPr>
              <p:cNvPr id="71" name="组合 70"/>
              <p:cNvGrpSpPr/>
              <p:nvPr/>
            </p:nvGrpSpPr>
            <p:grpSpPr>
              <a:xfrm>
                <a:off x="7811494" y="2043285"/>
                <a:ext cx="1365223" cy="641858"/>
                <a:chOff x="7811494" y="2043285"/>
                <a:chExt cx="1365223" cy="641858"/>
              </a:xfrm>
            </p:grpSpPr>
            <p:sp>
              <p:nvSpPr>
                <p:cNvPr id="77" name="矩形: 对角圆角 76"/>
                <p:cNvSpPr/>
                <p:nvPr/>
              </p:nvSpPr>
              <p:spPr>
                <a:xfrm flipH="1">
                  <a:off x="8107390" y="2043285"/>
                  <a:ext cx="773432" cy="641858"/>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9"/>
                <p:cNvSpPr txBox="1"/>
                <p:nvPr/>
              </p:nvSpPr>
              <p:spPr>
                <a:xfrm>
                  <a:off x="7811494" y="2102604"/>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01</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sp>
            <p:nvSpPr>
              <p:cNvPr id="72" name="文本框 9"/>
              <p:cNvSpPr txBox="1"/>
              <p:nvPr/>
            </p:nvSpPr>
            <p:spPr>
              <a:xfrm>
                <a:off x="5396092" y="4721118"/>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a:t>
                </a:r>
              </a:p>
            </p:txBody>
          </p:sp>
          <p:sp>
            <p:nvSpPr>
              <p:cNvPr id="73" name="文本框 72"/>
              <p:cNvSpPr txBox="1"/>
              <p:nvPr/>
            </p:nvSpPr>
            <p:spPr>
              <a:xfrm>
                <a:off x="5098506" y="5325521"/>
                <a:ext cx="3770625" cy="899733"/>
              </a:xfrm>
              <a:prstGeom prst="rect">
                <a:avLst/>
              </a:prstGeom>
              <a:noFill/>
            </p:spPr>
            <p:txBody>
              <a:bodyPr wrap="square">
                <a:spAutoFit/>
              </a:bodyPr>
              <a:lstStyle/>
              <a:p>
                <a:pPr algn="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Mercury—and its atmosphere</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nvGrpSpPr>
              <p:cNvPr id="74" name="组合 73"/>
              <p:cNvGrpSpPr/>
              <p:nvPr/>
            </p:nvGrpSpPr>
            <p:grpSpPr>
              <a:xfrm>
                <a:off x="7811494" y="4557885"/>
                <a:ext cx="1365223" cy="641858"/>
                <a:chOff x="7811494" y="2043285"/>
                <a:chExt cx="1365223" cy="641858"/>
              </a:xfrm>
            </p:grpSpPr>
            <p:sp>
              <p:nvSpPr>
                <p:cNvPr id="75" name="矩形: 对角圆角 74"/>
                <p:cNvSpPr/>
                <p:nvPr/>
              </p:nvSpPr>
              <p:spPr>
                <a:xfrm flipH="1" flipV="1">
                  <a:off x="8107390" y="2043285"/>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框 9"/>
                <p:cNvSpPr txBox="1"/>
                <p:nvPr/>
              </p:nvSpPr>
              <p:spPr>
                <a:xfrm>
                  <a:off x="7811494" y="2102604"/>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02</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76225" y="314885"/>
            <a:ext cx="11639550" cy="6228231"/>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168431" y="6075650"/>
            <a:ext cx="746290" cy="578097"/>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383649" y="165961"/>
            <a:ext cx="746290" cy="578097"/>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3" name="矩形: 对角圆角 52"/>
          <p:cNvSpPr/>
          <p:nvPr/>
        </p:nvSpPr>
        <p:spPr>
          <a:xfrm>
            <a:off x="541576" y="203640"/>
            <a:ext cx="672411" cy="55802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32031" y="1107110"/>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0870079" y="5565586"/>
            <a:ext cx="942914" cy="1041817"/>
            <a:chOff x="5696236" y="5459920"/>
            <a:chExt cx="661068" cy="730408"/>
          </a:xfrm>
        </p:grpSpPr>
        <p:sp>
          <p:nvSpPr>
            <p:cNvPr id="55" name="矩形: 对角圆角 54"/>
            <p:cNvSpPr/>
            <p:nvPr/>
          </p:nvSpPr>
          <p:spPr>
            <a:xfrm>
              <a:off x="6014101" y="5459920"/>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2419471" y="1634416"/>
            <a:ext cx="7353058" cy="3589169"/>
            <a:chOff x="2419471" y="2138652"/>
            <a:chExt cx="7353058" cy="3589169"/>
          </a:xfrm>
        </p:grpSpPr>
        <p:sp>
          <p:nvSpPr>
            <p:cNvPr id="15" name="矩形: 圆角 14"/>
            <p:cNvSpPr/>
            <p:nvPr/>
          </p:nvSpPr>
          <p:spPr>
            <a:xfrm>
              <a:off x="5129151" y="2152995"/>
              <a:ext cx="1933698" cy="494535"/>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2419471" y="3005645"/>
              <a:ext cx="7353058" cy="2722176"/>
              <a:chOff x="5130566" y="2399245"/>
              <a:chExt cx="7353058" cy="2722176"/>
            </a:xfrm>
          </p:grpSpPr>
          <p:sp>
            <p:nvSpPr>
              <p:cNvPr id="12" name="矩形: 对角圆角 11"/>
              <p:cNvSpPr/>
              <p:nvPr/>
            </p:nvSpPr>
            <p:spPr>
              <a:xfrm>
                <a:off x="5998951" y="2399245"/>
                <a:ext cx="5616289" cy="106020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5819705" y="4221688"/>
                <a:ext cx="5974780" cy="899733"/>
              </a:xfrm>
              <a:prstGeom prst="rect">
                <a:avLst/>
              </a:prstGeom>
              <a:noFill/>
            </p:spPr>
            <p:txBody>
              <a:bodyPr wrap="square">
                <a:spAutoFit/>
              </a:bodyPr>
              <a:lstStyle/>
              <a:p>
                <a:pPr algn="ctr">
                  <a:lnSpc>
                    <a:spcPct val="150000"/>
                  </a:lnSpc>
                  <a:spcBef>
                    <a:spcPts val="800"/>
                  </a:spcBef>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OPPOSans R" panose="00020600040101010101" pitchFamily="18" charset="-122"/>
                    <a:sym typeface="汉仪旗黑X1-55W" panose="00020600040101010101" pitchFamily="18" charset="-122"/>
                  </a:rPr>
                  <a:t>It could be the part of the presentation where you can introduce your company or agency. It could be the part of the presentation where you can introduce your company or agency. </a:t>
                </a:r>
              </a:p>
            </p:txBody>
          </p:sp>
          <p:sp>
            <p:nvSpPr>
              <p:cNvPr id="21" name="文本框 20"/>
              <p:cNvSpPr txBox="1"/>
              <p:nvPr/>
            </p:nvSpPr>
            <p:spPr>
              <a:xfrm>
                <a:off x="5315220" y="2505780"/>
                <a:ext cx="6983750" cy="923330"/>
              </a:xfrm>
              <a:prstGeom prst="rect">
                <a:avLst/>
              </a:prstGeom>
              <a:noFill/>
            </p:spPr>
            <p:txBody>
              <a:bodyPr wrap="square">
                <a:spAutoFit/>
              </a:bodyPr>
              <a:lstStyle/>
              <a:p>
                <a:pPr algn="ctr"/>
                <a:r>
                  <a:rPr lang="zh-CN" altLang="en-US" sz="54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养老政策支持</a:t>
                </a:r>
              </a:p>
            </p:txBody>
          </p:sp>
          <p:cxnSp>
            <p:nvCxnSpPr>
              <p:cNvPr id="24" name="直接连接符 23"/>
              <p:cNvCxnSpPr/>
              <p:nvPr/>
            </p:nvCxnSpPr>
            <p:spPr>
              <a:xfrm>
                <a:off x="6035329" y="4092920"/>
                <a:ext cx="5543533" cy="0"/>
              </a:xfrm>
              <a:prstGeom prst="line">
                <a:avLst/>
              </a:prstGeom>
              <a:ln w="12700">
                <a:solidFill>
                  <a:srgbClr val="0A3181"/>
                </a:solidFill>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5130566" y="3474265"/>
                <a:ext cx="7353058" cy="584775"/>
              </a:xfrm>
              <a:prstGeom prst="rect">
                <a:avLst/>
              </a:prstGeom>
              <a:noFill/>
            </p:spPr>
            <p:txBody>
              <a:bodyPr wrap="square">
                <a:spAutoFit/>
              </a:bodyPr>
              <a:lstStyle/>
              <a:p>
                <a:pPr algn="ctr"/>
                <a:r>
                  <a:rPr lang="en-US" altLang="zh-CN" sz="32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Pension policy support</a:t>
                </a:r>
                <a:endParaRPr lang="zh-CN" altLang="en-US" sz="32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sp>
          <p:nvSpPr>
            <p:cNvPr id="58" name="文本框 57"/>
            <p:cNvSpPr txBox="1"/>
            <p:nvPr/>
          </p:nvSpPr>
          <p:spPr>
            <a:xfrm>
              <a:off x="4209965" y="2138652"/>
              <a:ext cx="3772070" cy="523220"/>
            </a:xfrm>
            <a:prstGeom prst="rect">
              <a:avLst/>
            </a:prstGeom>
            <a:noFill/>
          </p:spPr>
          <p:txBody>
            <a:bodyPr wrap="square">
              <a:spAutoFit/>
            </a:bodyPr>
            <a:lstStyle/>
            <a:p>
              <a:pPr algn="ctr" rtl="0"/>
              <a:r>
                <a:rPr lang="en-US" altLang="zh-CN" sz="2800" b="1" i="0" dirty="0">
                  <a:solidFill>
                    <a:schemeClr val="bg1"/>
                  </a:solidFill>
                  <a:effectLst/>
                  <a:latin typeface="思源宋体 CN Heavy" pitchFamily="18" charset="-122"/>
                  <a:ea typeface="思源宋体 CN Heavy" pitchFamily="18" charset="-122"/>
                  <a:sym typeface="汉仪中宋S" panose="00020600040101010101" pitchFamily="18" charset="-122"/>
                </a:rPr>
                <a:t>Part 02</a:t>
              </a:r>
            </a:p>
          </p:txBody>
        </p:sp>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69143" y="157442"/>
            <a:ext cx="11853714" cy="6543116"/>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4430" y="6425451"/>
            <a:ext cx="513631" cy="397873"/>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616307" y="165961"/>
            <a:ext cx="513631" cy="397873"/>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 name="组合 3"/>
          <p:cNvGrpSpPr/>
          <p:nvPr/>
        </p:nvGrpSpPr>
        <p:grpSpPr>
          <a:xfrm>
            <a:off x="301246" y="239134"/>
            <a:ext cx="267971" cy="485137"/>
            <a:chOff x="513690" y="203640"/>
            <a:chExt cx="479247" cy="867633"/>
          </a:xfrm>
        </p:grpSpPr>
        <p:sp>
          <p:nvSpPr>
            <p:cNvPr id="53" name="矩形: 对角圆角 52"/>
            <p:cNvSpPr/>
            <p:nvPr/>
          </p:nvSpPr>
          <p:spPr>
            <a:xfrm>
              <a:off x="541576" y="203640"/>
              <a:ext cx="451361" cy="374575"/>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13690" y="784342"/>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1487194" y="6169223"/>
            <a:ext cx="453850" cy="438182"/>
            <a:chOff x="5696236" y="5552082"/>
            <a:chExt cx="661068" cy="638246"/>
          </a:xfrm>
        </p:grpSpPr>
        <p:sp>
          <p:nvSpPr>
            <p:cNvPr id="55" name="矩形: 对角圆角 54"/>
            <p:cNvSpPr/>
            <p:nvPr/>
          </p:nvSpPr>
          <p:spPr>
            <a:xfrm>
              <a:off x="6014101" y="5552082"/>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3598856" y="383921"/>
            <a:ext cx="4994288" cy="859417"/>
            <a:chOff x="6309951" y="2453552"/>
            <a:chExt cx="4994288" cy="859417"/>
          </a:xfrm>
        </p:grpSpPr>
        <p:sp>
          <p:nvSpPr>
            <p:cNvPr id="12" name="矩形: 对角圆角 11"/>
            <p:cNvSpPr/>
            <p:nvPr/>
          </p:nvSpPr>
          <p:spPr>
            <a:xfrm>
              <a:off x="7645045" y="2453552"/>
              <a:ext cx="2324100" cy="49409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435370" y="2469766"/>
              <a:ext cx="4743450" cy="461665"/>
            </a:xfrm>
            <a:prstGeom prst="rect">
              <a:avLst/>
            </a:prstGeom>
            <a:noFill/>
          </p:spPr>
          <p:txBody>
            <a:bodyPr wrap="square">
              <a:spAutoFit/>
            </a:bodyPr>
            <a:lstStyle/>
            <a:p>
              <a:pPr algn="ctr"/>
              <a:r>
                <a:rPr lang="zh-CN" altLang="en-US" sz="24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养老政策支持</a:t>
              </a:r>
            </a:p>
          </p:txBody>
        </p:sp>
        <p:sp>
          <p:nvSpPr>
            <p:cNvPr id="57" name="文本框 56"/>
            <p:cNvSpPr txBox="1"/>
            <p:nvPr/>
          </p:nvSpPr>
          <p:spPr>
            <a:xfrm>
              <a:off x="6309951" y="2974415"/>
              <a:ext cx="4994288" cy="338554"/>
            </a:xfrm>
            <a:prstGeom prst="rect">
              <a:avLst/>
            </a:prstGeom>
            <a:noFill/>
          </p:spPr>
          <p:txBody>
            <a:bodyPr wrap="square">
              <a:spAutoFit/>
            </a:bodyPr>
            <a:lstStyle/>
            <a:p>
              <a:pPr algn="ctr"/>
              <a:r>
                <a:rPr lang="en-US" altLang="zh-CN"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Pension policy support</a:t>
              </a:r>
            </a:p>
          </p:txBody>
        </p:sp>
      </p:grpSp>
      <p:grpSp>
        <p:nvGrpSpPr>
          <p:cNvPr id="6" name="组合 5"/>
          <p:cNvGrpSpPr/>
          <p:nvPr/>
        </p:nvGrpSpPr>
        <p:grpSpPr>
          <a:xfrm>
            <a:off x="697746" y="1961534"/>
            <a:ext cx="10796508" cy="3943556"/>
            <a:chOff x="933403" y="1961534"/>
            <a:chExt cx="10796508" cy="3943556"/>
          </a:xfrm>
        </p:grpSpPr>
        <p:grpSp>
          <p:nvGrpSpPr>
            <p:cNvPr id="5" name="组合 4"/>
            <p:cNvGrpSpPr/>
            <p:nvPr/>
          </p:nvGrpSpPr>
          <p:grpSpPr>
            <a:xfrm>
              <a:off x="933403" y="1961534"/>
              <a:ext cx="2572132" cy="3943556"/>
              <a:chOff x="587894" y="1752987"/>
              <a:chExt cx="2572132" cy="3943556"/>
            </a:xfrm>
          </p:grpSpPr>
          <p:grpSp>
            <p:nvGrpSpPr>
              <p:cNvPr id="62" name="组合 61"/>
              <p:cNvGrpSpPr/>
              <p:nvPr/>
            </p:nvGrpSpPr>
            <p:grpSpPr>
              <a:xfrm>
                <a:off x="587894" y="3844078"/>
                <a:ext cx="2572132" cy="544416"/>
                <a:chOff x="5008310" y="4670868"/>
                <a:chExt cx="2572132" cy="544416"/>
              </a:xfrm>
            </p:grpSpPr>
            <p:sp>
              <p:nvSpPr>
                <p:cNvPr id="69" name="矩形: 圆角 68"/>
                <p:cNvSpPr/>
                <p:nvPr/>
              </p:nvSpPr>
              <p:spPr>
                <a:xfrm>
                  <a:off x="5244524" y="4670868"/>
                  <a:ext cx="2099704" cy="544416"/>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5008310" y="4744328"/>
                  <a:ext cx="2572132" cy="461665"/>
                </a:xfrm>
                <a:prstGeom prst="rect">
                  <a:avLst/>
                </a:prstGeom>
                <a:noFill/>
              </p:spPr>
              <p:txBody>
                <a:bodyPr wrap="square">
                  <a:spAutoFit/>
                </a:bodyPr>
                <a:lstStyle/>
                <a:p>
                  <a:pPr algn="ctr"/>
                  <a:r>
                    <a:rPr lang="zh-CN" altLang="en-US" sz="24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养老政策</a:t>
                  </a:r>
                </a:p>
              </p:txBody>
            </p:sp>
          </p:grpSp>
          <p:pic>
            <p:nvPicPr>
              <p:cNvPr id="58" name="图片 57" descr="Bearded Man Looking at a Woman"/>
              <p:cNvPicPr>
                <a:picLocks noChangeAspect="1" noChangeArrowheads="1"/>
              </p:cNvPicPr>
              <p:nvPr/>
            </p:nvPicPr>
            <p:blipFill>
              <a:blip r:embed="rId2">
                <a:extLst>
                  <a:ext uri="{28A0092B-C50C-407E-A947-70E740481C1C}">
                    <a14:useLocalDpi xmlns:a14="http://schemas.microsoft.com/office/drawing/2010/main" val="0"/>
                  </a:ext>
                </a:extLst>
              </a:blip>
              <a:srcRect l="14000" t="1279" r="7800" b="1279"/>
              <a:stretch>
                <a:fillRect/>
              </a:stretch>
            </p:blipFill>
            <p:spPr bwMode="auto">
              <a:xfrm flipH="1">
                <a:off x="777500" y="1752987"/>
                <a:ext cx="2192920" cy="1819858"/>
              </a:xfrm>
              <a:custGeom>
                <a:avLst/>
                <a:gdLst>
                  <a:gd name="connsiteX0" fmla="*/ 1545348 w 3724274"/>
                  <a:gd name="connsiteY0" fmla="*/ 0 h 3090696"/>
                  <a:gd name="connsiteX1" fmla="*/ 3724274 w 3724274"/>
                  <a:gd name="connsiteY1" fmla="*/ 0 h 3090696"/>
                  <a:gd name="connsiteX2" fmla="*/ 3724274 w 3724274"/>
                  <a:gd name="connsiteY2" fmla="*/ 1545348 h 3090696"/>
                  <a:gd name="connsiteX3" fmla="*/ 2178926 w 3724274"/>
                  <a:gd name="connsiteY3" fmla="*/ 3090696 h 3090696"/>
                  <a:gd name="connsiteX4" fmla="*/ 0 w 3724274"/>
                  <a:gd name="connsiteY4" fmla="*/ 3090696 h 3090696"/>
                  <a:gd name="connsiteX5" fmla="*/ 0 w 3724274"/>
                  <a:gd name="connsiteY5" fmla="*/ 1545348 h 3090696"/>
                  <a:gd name="connsiteX6" fmla="*/ 1545348 w 3724274"/>
                  <a:gd name="connsiteY6" fmla="*/ 0 h 3090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24273" h="3090696">
                    <a:moveTo>
                      <a:pt x="1545348" y="0"/>
                    </a:moveTo>
                    <a:lnTo>
                      <a:pt x="3724274" y="0"/>
                    </a:lnTo>
                    <a:lnTo>
                      <a:pt x="3724274" y="1545348"/>
                    </a:lnTo>
                    <a:cubicBezTo>
                      <a:pt x="3724274" y="2398820"/>
                      <a:pt x="3032398" y="3090696"/>
                      <a:pt x="2178926" y="3090696"/>
                    </a:cubicBezTo>
                    <a:lnTo>
                      <a:pt x="0" y="3090696"/>
                    </a:lnTo>
                    <a:lnTo>
                      <a:pt x="0" y="1545348"/>
                    </a:lnTo>
                    <a:cubicBezTo>
                      <a:pt x="0" y="691876"/>
                      <a:pt x="691876" y="0"/>
                      <a:pt x="1545348" y="0"/>
                    </a:cubicBezTo>
                    <a:close/>
                  </a:path>
                </a:pathLst>
              </a:custGeom>
              <a:noFill/>
              <a:extLst>
                <a:ext uri="{909E8E84-426E-40DD-AFC4-6F175D3DCCD1}">
                  <a14:hiddenFill xmlns:a14="http://schemas.microsoft.com/office/drawing/2010/main">
                    <a:solidFill>
                      <a:srgbClr val="FFFFFF"/>
                    </a:solidFill>
                  </a14:hiddenFill>
                </a:ext>
              </a:extLst>
            </p:spPr>
          </p:pic>
          <p:sp>
            <p:nvSpPr>
              <p:cNvPr id="60" name="文本框 59"/>
              <p:cNvSpPr txBox="1"/>
              <p:nvPr/>
            </p:nvSpPr>
            <p:spPr>
              <a:xfrm>
                <a:off x="671198" y="4519811"/>
                <a:ext cx="2405524" cy="1176732"/>
              </a:xfrm>
              <a:prstGeom prst="rect">
                <a:avLst/>
              </a:prstGeom>
              <a:noFill/>
            </p:spPr>
            <p:txBody>
              <a:bodyPr wrap="square">
                <a:spAutoFit/>
              </a:bodyPr>
              <a:lstStyle/>
              <a:p>
                <a:pPr algn="ct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nvGrpSpPr>
            <p:cNvPr id="71" name="组合 70"/>
            <p:cNvGrpSpPr/>
            <p:nvPr/>
          </p:nvGrpSpPr>
          <p:grpSpPr>
            <a:xfrm>
              <a:off x="3674862" y="1961534"/>
              <a:ext cx="2572132" cy="3943556"/>
              <a:chOff x="587894" y="1752987"/>
              <a:chExt cx="2572132" cy="3943556"/>
            </a:xfrm>
          </p:grpSpPr>
          <p:grpSp>
            <p:nvGrpSpPr>
              <p:cNvPr id="72" name="组合 71"/>
              <p:cNvGrpSpPr/>
              <p:nvPr/>
            </p:nvGrpSpPr>
            <p:grpSpPr>
              <a:xfrm>
                <a:off x="587894" y="3844078"/>
                <a:ext cx="2572132" cy="544416"/>
                <a:chOff x="5008310" y="4670868"/>
                <a:chExt cx="2572132" cy="544416"/>
              </a:xfrm>
            </p:grpSpPr>
            <p:sp>
              <p:nvSpPr>
                <p:cNvPr id="75" name="矩形: 圆角 74"/>
                <p:cNvSpPr/>
                <p:nvPr/>
              </p:nvSpPr>
              <p:spPr>
                <a:xfrm>
                  <a:off x="5244524" y="4670868"/>
                  <a:ext cx="2099704" cy="544416"/>
                </a:xfrm>
                <a:prstGeom prst="roundRect">
                  <a:avLst>
                    <a:gd name="adj" fmla="val 5000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框 75"/>
                <p:cNvSpPr txBox="1"/>
                <p:nvPr/>
              </p:nvSpPr>
              <p:spPr>
                <a:xfrm>
                  <a:off x="5008310" y="4744328"/>
                  <a:ext cx="2572132" cy="461665"/>
                </a:xfrm>
                <a:prstGeom prst="rect">
                  <a:avLst/>
                </a:prstGeom>
                <a:noFill/>
              </p:spPr>
              <p:txBody>
                <a:bodyPr wrap="square">
                  <a:spAutoFit/>
                </a:bodyPr>
                <a:lstStyle/>
                <a:p>
                  <a:pPr algn="ctr"/>
                  <a:r>
                    <a:rPr lang="zh-CN" altLang="en-US" sz="24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养老政策</a:t>
                  </a:r>
                </a:p>
              </p:txBody>
            </p:sp>
          </p:grpSp>
          <p:pic>
            <p:nvPicPr>
              <p:cNvPr id="73" name="图片 72"/>
              <p:cNvPicPr>
                <a:picLocks noChangeAspect="1" noChangeArrowheads="1"/>
              </p:cNvPicPr>
              <p:nvPr/>
            </p:nvPicPr>
            <p:blipFill>
              <a:blip r:embed="rId3">
                <a:extLst>
                  <a:ext uri="{28A0092B-C50C-407E-A947-70E740481C1C}">
                    <a14:useLocalDpi xmlns:a14="http://schemas.microsoft.com/office/drawing/2010/main" val="0"/>
                  </a:ext>
                </a:extLst>
              </a:blip>
              <a:srcRect l="9874" r="9874"/>
              <a:stretch>
                <a:fillRect/>
              </a:stretch>
            </p:blipFill>
            <p:spPr bwMode="auto">
              <a:xfrm>
                <a:off x="777500" y="1752987"/>
                <a:ext cx="2192920" cy="1819858"/>
              </a:xfrm>
              <a:custGeom>
                <a:avLst/>
                <a:gdLst>
                  <a:gd name="connsiteX0" fmla="*/ 1545348 w 3724274"/>
                  <a:gd name="connsiteY0" fmla="*/ 0 h 3090696"/>
                  <a:gd name="connsiteX1" fmla="*/ 3724274 w 3724274"/>
                  <a:gd name="connsiteY1" fmla="*/ 0 h 3090696"/>
                  <a:gd name="connsiteX2" fmla="*/ 3724274 w 3724274"/>
                  <a:gd name="connsiteY2" fmla="*/ 1545348 h 3090696"/>
                  <a:gd name="connsiteX3" fmla="*/ 2178926 w 3724274"/>
                  <a:gd name="connsiteY3" fmla="*/ 3090696 h 3090696"/>
                  <a:gd name="connsiteX4" fmla="*/ 0 w 3724274"/>
                  <a:gd name="connsiteY4" fmla="*/ 3090696 h 3090696"/>
                  <a:gd name="connsiteX5" fmla="*/ 0 w 3724274"/>
                  <a:gd name="connsiteY5" fmla="*/ 1545348 h 3090696"/>
                  <a:gd name="connsiteX6" fmla="*/ 1545348 w 3724274"/>
                  <a:gd name="connsiteY6" fmla="*/ 0 h 3090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24273" h="3090696">
                    <a:moveTo>
                      <a:pt x="1545348" y="0"/>
                    </a:moveTo>
                    <a:lnTo>
                      <a:pt x="3724274" y="0"/>
                    </a:lnTo>
                    <a:lnTo>
                      <a:pt x="3724274" y="1545348"/>
                    </a:lnTo>
                    <a:cubicBezTo>
                      <a:pt x="3724274" y="2398820"/>
                      <a:pt x="3032398" y="3090696"/>
                      <a:pt x="2178926" y="3090696"/>
                    </a:cubicBezTo>
                    <a:lnTo>
                      <a:pt x="0" y="3090696"/>
                    </a:lnTo>
                    <a:lnTo>
                      <a:pt x="0" y="1545348"/>
                    </a:lnTo>
                    <a:cubicBezTo>
                      <a:pt x="0" y="691876"/>
                      <a:pt x="691876" y="0"/>
                      <a:pt x="1545348" y="0"/>
                    </a:cubicBezTo>
                    <a:close/>
                  </a:path>
                </a:pathLst>
              </a:custGeom>
              <a:noFill/>
              <a:extLst>
                <a:ext uri="{909E8E84-426E-40DD-AFC4-6F175D3DCCD1}">
                  <a14:hiddenFill xmlns:a14="http://schemas.microsoft.com/office/drawing/2010/main">
                    <a:solidFill>
                      <a:srgbClr val="FFFFFF"/>
                    </a:solidFill>
                  </a14:hiddenFill>
                </a:ext>
              </a:extLst>
            </p:spPr>
          </p:pic>
          <p:sp>
            <p:nvSpPr>
              <p:cNvPr id="74" name="文本框 73"/>
              <p:cNvSpPr txBox="1"/>
              <p:nvPr/>
            </p:nvSpPr>
            <p:spPr>
              <a:xfrm>
                <a:off x="671198" y="4519811"/>
                <a:ext cx="2405524" cy="1176732"/>
              </a:xfrm>
              <a:prstGeom prst="rect">
                <a:avLst/>
              </a:prstGeom>
              <a:noFill/>
            </p:spPr>
            <p:txBody>
              <a:bodyPr wrap="square">
                <a:spAutoFit/>
              </a:bodyPr>
              <a:lstStyle/>
              <a:p>
                <a:pPr algn="ct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nvGrpSpPr>
            <p:cNvPr id="77" name="组合 76"/>
            <p:cNvGrpSpPr/>
            <p:nvPr/>
          </p:nvGrpSpPr>
          <p:grpSpPr>
            <a:xfrm>
              <a:off x="6416321" y="1961534"/>
              <a:ext cx="2572132" cy="3943556"/>
              <a:chOff x="587894" y="1752987"/>
              <a:chExt cx="2572132" cy="3943556"/>
            </a:xfrm>
          </p:grpSpPr>
          <p:grpSp>
            <p:nvGrpSpPr>
              <p:cNvPr id="78" name="组合 77"/>
              <p:cNvGrpSpPr/>
              <p:nvPr/>
            </p:nvGrpSpPr>
            <p:grpSpPr>
              <a:xfrm>
                <a:off x="587894" y="3844078"/>
                <a:ext cx="2572132" cy="544416"/>
                <a:chOff x="5008310" y="4670868"/>
                <a:chExt cx="2572132" cy="544416"/>
              </a:xfrm>
            </p:grpSpPr>
            <p:sp>
              <p:nvSpPr>
                <p:cNvPr id="81" name="矩形: 圆角 80"/>
                <p:cNvSpPr/>
                <p:nvPr/>
              </p:nvSpPr>
              <p:spPr>
                <a:xfrm>
                  <a:off x="5244524" y="4670868"/>
                  <a:ext cx="2099704" cy="544416"/>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81"/>
                <p:cNvSpPr txBox="1"/>
                <p:nvPr/>
              </p:nvSpPr>
              <p:spPr>
                <a:xfrm>
                  <a:off x="5008310" y="4744328"/>
                  <a:ext cx="2572132" cy="461665"/>
                </a:xfrm>
                <a:prstGeom prst="rect">
                  <a:avLst/>
                </a:prstGeom>
                <a:noFill/>
              </p:spPr>
              <p:txBody>
                <a:bodyPr wrap="square">
                  <a:spAutoFit/>
                </a:bodyPr>
                <a:lstStyle/>
                <a:p>
                  <a:pPr algn="ctr"/>
                  <a:r>
                    <a:rPr lang="zh-CN" altLang="en-US" sz="24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养老政策</a:t>
                  </a:r>
                </a:p>
              </p:txBody>
            </p:sp>
          </p:grpSp>
          <p:pic>
            <p:nvPicPr>
              <p:cNvPr id="79" name="图片 78"/>
              <p:cNvPicPr>
                <a:picLocks noChangeAspect="1" noChangeArrowheads="1"/>
              </p:cNvPicPr>
              <p:nvPr/>
            </p:nvPicPr>
            <p:blipFill>
              <a:blip r:embed="rId4">
                <a:extLst>
                  <a:ext uri="{28A0092B-C50C-407E-A947-70E740481C1C}">
                    <a14:useLocalDpi xmlns:a14="http://schemas.microsoft.com/office/drawing/2010/main" val="0"/>
                  </a:ext>
                </a:extLst>
              </a:blip>
              <a:srcRect l="1267" t="5538" r="39103" b="20160"/>
              <a:stretch>
                <a:fillRect/>
              </a:stretch>
            </p:blipFill>
            <p:spPr bwMode="auto">
              <a:xfrm flipH="1">
                <a:off x="777500" y="1752987"/>
                <a:ext cx="2192920" cy="1819858"/>
              </a:xfrm>
              <a:custGeom>
                <a:avLst/>
                <a:gdLst>
                  <a:gd name="connsiteX0" fmla="*/ 1545348 w 3724274"/>
                  <a:gd name="connsiteY0" fmla="*/ 0 h 3090696"/>
                  <a:gd name="connsiteX1" fmla="*/ 3724274 w 3724274"/>
                  <a:gd name="connsiteY1" fmla="*/ 0 h 3090696"/>
                  <a:gd name="connsiteX2" fmla="*/ 3724274 w 3724274"/>
                  <a:gd name="connsiteY2" fmla="*/ 1545348 h 3090696"/>
                  <a:gd name="connsiteX3" fmla="*/ 2178926 w 3724274"/>
                  <a:gd name="connsiteY3" fmla="*/ 3090696 h 3090696"/>
                  <a:gd name="connsiteX4" fmla="*/ 0 w 3724274"/>
                  <a:gd name="connsiteY4" fmla="*/ 3090696 h 3090696"/>
                  <a:gd name="connsiteX5" fmla="*/ 0 w 3724274"/>
                  <a:gd name="connsiteY5" fmla="*/ 1545348 h 3090696"/>
                  <a:gd name="connsiteX6" fmla="*/ 1545348 w 3724274"/>
                  <a:gd name="connsiteY6" fmla="*/ 0 h 3090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24273" h="3090696">
                    <a:moveTo>
                      <a:pt x="1545348" y="0"/>
                    </a:moveTo>
                    <a:lnTo>
                      <a:pt x="3724274" y="0"/>
                    </a:lnTo>
                    <a:lnTo>
                      <a:pt x="3724274" y="1545348"/>
                    </a:lnTo>
                    <a:cubicBezTo>
                      <a:pt x="3724274" y="2398820"/>
                      <a:pt x="3032398" y="3090696"/>
                      <a:pt x="2178926" y="3090696"/>
                    </a:cubicBezTo>
                    <a:lnTo>
                      <a:pt x="0" y="3090696"/>
                    </a:lnTo>
                    <a:lnTo>
                      <a:pt x="0" y="1545348"/>
                    </a:lnTo>
                    <a:cubicBezTo>
                      <a:pt x="0" y="691876"/>
                      <a:pt x="691876" y="0"/>
                      <a:pt x="1545348" y="0"/>
                    </a:cubicBezTo>
                    <a:close/>
                  </a:path>
                </a:pathLst>
              </a:custGeom>
              <a:noFill/>
              <a:extLst>
                <a:ext uri="{909E8E84-426E-40DD-AFC4-6F175D3DCCD1}">
                  <a14:hiddenFill xmlns:a14="http://schemas.microsoft.com/office/drawing/2010/main">
                    <a:solidFill>
                      <a:srgbClr val="FFFFFF"/>
                    </a:solidFill>
                  </a14:hiddenFill>
                </a:ext>
              </a:extLst>
            </p:spPr>
          </p:pic>
          <p:sp>
            <p:nvSpPr>
              <p:cNvPr id="80" name="文本框 79"/>
              <p:cNvSpPr txBox="1"/>
              <p:nvPr/>
            </p:nvSpPr>
            <p:spPr>
              <a:xfrm>
                <a:off x="671198" y="4519811"/>
                <a:ext cx="2405524" cy="1176732"/>
              </a:xfrm>
              <a:prstGeom prst="rect">
                <a:avLst/>
              </a:prstGeom>
              <a:noFill/>
            </p:spPr>
            <p:txBody>
              <a:bodyPr wrap="square">
                <a:spAutoFit/>
              </a:bodyPr>
              <a:lstStyle/>
              <a:p>
                <a:pPr algn="ct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nvGrpSpPr>
            <p:cNvPr id="83" name="组合 82"/>
            <p:cNvGrpSpPr/>
            <p:nvPr/>
          </p:nvGrpSpPr>
          <p:grpSpPr>
            <a:xfrm>
              <a:off x="9157779" y="1961534"/>
              <a:ext cx="2572132" cy="3943556"/>
              <a:chOff x="587894" y="1752987"/>
              <a:chExt cx="2572132" cy="3943556"/>
            </a:xfrm>
          </p:grpSpPr>
          <p:grpSp>
            <p:nvGrpSpPr>
              <p:cNvPr id="84" name="组合 83"/>
              <p:cNvGrpSpPr/>
              <p:nvPr/>
            </p:nvGrpSpPr>
            <p:grpSpPr>
              <a:xfrm>
                <a:off x="587894" y="3844078"/>
                <a:ext cx="2572132" cy="544416"/>
                <a:chOff x="5008310" y="4670868"/>
                <a:chExt cx="2572132" cy="544416"/>
              </a:xfrm>
            </p:grpSpPr>
            <p:sp>
              <p:nvSpPr>
                <p:cNvPr id="87" name="矩形: 圆角 86"/>
                <p:cNvSpPr/>
                <p:nvPr/>
              </p:nvSpPr>
              <p:spPr>
                <a:xfrm>
                  <a:off x="5244524" y="4670868"/>
                  <a:ext cx="2099704" cy="544416"/>
                </a:xfrm>
                <a:prstGeom prst="roundRect">
                  <a:avLst>
                    <a:gd name="adj" fmla="val 5000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5008310" y="4744328"/>
                  <a:ext cx="2572132" cy="461665"/>
                </a:xfrm>
                <a:prstGeom prst="rect">
                  <a:avLst/>
                </a:prstGeom>
                <a:noFill/>
              </p:spPr>
              <p:txBody>
                <a:bodyPr wrap="square">
                  <a:spAutoFit/>
                </a:bodyPr>
                <a:lstStyle/>
                <a:p>
                  <a:pPr algn="ctr"/>
                  <a:r>
                    <a:rPr lang="zh-CN" altLang="en-US" sz="24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养老政策</a:t>
                  </a:r>
                </a:p>
              </p:txBody>
            </p:sp>
          </p:grpSp>
          <p:pic>
            <p:nvPicPr>
              <p:cNvPr id="85" name="图片 84"/>
              <p:cNvPicPr>
                <a:picLocks noChangeAspect="1" noChangeArrowheads="1"/>
              </p:cNvPicPr>
              <p:nvPr/>
            </p:nvPicPr>
            <p:blipFill>
              <a:blip r:embed="rId4">
                <a:extLst>
                  <a:ext uri="{28A0092B-C50C-407E-A947-70E740481C1C}">
                    <a14:useLocalDpi xmlns:a14="http://schemas.microsoft.com/office/drawing/2010/main" val="0"/>
                  </a:ext>
                </a:extLst>
              </a:blip>
              <a:srcRect l="47352" t="22038" r="499" b="12981"/>
              <a:stretch>
                <a:fillRect/>
              </a:stretch>
            </p:blipFill>
            <p:spPr bwMode="auto">
              <a:xfrm>
                <a:off x="777500" y="1752987"/>
                <a:ext cx="2192920" cy="1819858"/>
              </a:xfrm>
              <a:custGeom>
                <a:avLst/>
                <a:gdLst>
                  <a:gd name="connsiteX0" fmla="*/ 1545348 w 3724274"/>
                  <a:gd name="connsiteY0" fmla="*/ 0 h 3090696"/>
                  <a:gd name="connsiteX1" fmla="*/ 3724274 w 3724274"/>
                  <a:gd name="connsiteY1" fmla="*/ 0 h 3090696"/>
                  <a:gd name="connsiteX2" fmla="*/ 3724274 w 3724274"/>
                  <a:gd name="connsiteY2" fmla="*/ 1545348 h 3090696"/>
                  <a:gd name="connsiteX3" fmla="*/ 2178926 w 3724274"/>
                  <a:gd name="connsiteY3" fmla="*/ 3090696 h 3090696"/>
                  <a:gd name="connsiteX4" fmla="*/ 0 w 3724274"/>
                  <a:gd name="connsiteY4" fmla="*/ 3090696 h 3090696"/>
                  <a:gd name="connsiteX5" fmla="*/ 0 w 3724274"/>
                  <a:gd name="connsiteY5" fmla="*/ 1545348 h 3090696"/>
                  <a:gd name="connsiteX6" fmla="*/ 1545348 w 3724274"/>
                  <a:gd name="connsiteY6" fmla="*/ 0 h 3090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24273" h="3090696">
                    <a:moveTo>
                      <a:pt x="1545348" y="0"/>
                    </a:moveTo>
                    <a:lnTo>
                      <a:pt x="3724274" y="0"/>
                    </a:lnTo>
                    <a:lnTo>
                      <a:pt x="3724274" y="1545348"/>
                    </a:lnTo>
                    <a:cubicBezTo>
                      <a:pt x="3724274" y="2398820"/>
                      <a:pt x="3032398" y="3090696"/>
                      <a:pt x="2178926" y="3090696"/>
                    </a:cubicBezTo>
                    <a:lnTo>
                      <a:pt x="0" y="3090696"/>
                    </a:lnTo>
                    <a:lnTo>
                      <a:pt x="0" y="1545348"/>
                    </a:lnTo>
                    <a:cubicBezTo>
                      <a:pt x="0" y="691876"/>
                      <a:pt x="691876" y="0"/>
                      <a:pt x="1545348" y="0"/>
                    </a:cubicBezTo>
                    <a:close/>
                  </a:path>
                </a:pathLst>
              </a:custGeom>
              <a:noFill/>
              <a:extLst>
                <a:ext uri="{909E8E84-426E-40DD-AFC4-6F175D3DCCD1}">
                  <a14:hiddenFill xmlns:a14="http://schemas.microsoft.com/office/drawing/2010/main">
                    <a:solidFill>
                      <a:srgbClr val="FFFFFF"/>
                    </a:solidFill>
                  </a14:hiddenFill>
                </a:ext>
              </a:extLst>
            </p:spPr>
          </p:pic>
          <p:sp>
            <p:nvSpPr>
              <p:cNvPr id="86" name="文本框 85"/>
              <p:cNvSpPr txBox="1"/>
              <p:nvPr/>
            </p:nvSpPr>
            <p:spPr>
              <a:xfrm>
                <a:off x="671198" y="4519811"/>
                <a:ext cx="2405524" cy="1176732"/>
              </a:xfrm>
              <a:prstGeom prst="rect">
                <a:avLst/>
              </a:prstGeom>
              <a:noFill/>
            </p:spPr>
            <p:txBody>
              <a:bodyPr wrap="square">
                <a:spAutoFit/>
              </a:bodyPr>
              <a:lstStyle/>
              <a:p>
                <a:pPr algn="ct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0" y="0"/>
            <a:ext cx="4572000" cy="6858000"/>
          </a:xfrm>
          <a:prstGeom prst="rect">
            <a:avLst/>
          </a:prstGeom>
        </p:spPr>
      </p:pic>
      <p:sp>
        <p:nvSpPr>
          <p:cNvPr id="10" name="矩形 9"/>
          <p:cNvSpPr/>
          <p:nvPr/>
        </p:nvSpPr>
        <p:spPr>
          <a:xfrm>
            <a:off x="169143" y="157442"/>
            <a:ext cx="11853714" cy="6543116"/>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4430" y="6425451"/>
            <a:ext cx="513631" cy="397873"/>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616307" y="165961"/>
            <a:ext cx="513631" cy="397873"/>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 name="组合 3"/>
          <p:cNvGrpSpPr/>
          <p:nvPr/>
        </p:nvGrpSpPr>
        <p:grpSpPr>
          <a:xfrm>
            <a:off x="301246" y="239134"/>
            <a:ext cx="267971" cy="485137"/>
            <a:chOff x="513690" y="203640"/>
            <a:chExt cx="479247" cy="867633"/>
          </a:xfrm>
        </p:grpSpPr>
        <p:sp>
          <p:nvSpPr>
            <p:cNvPr id="53" name="矩形: 对角圆角 52"/>
            <p:cNvSpPr/>
            <p:nvPr/>
          </p:nvSpPr>
          <p:spPr>
            <a:xfrm>
              <a:off x="541576" y="203640"/>
              <a:ext cx="451361" cy="374575"/>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13690" y="784342"/>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1487194" y="6169223"/>
            <a:ext cx="453850" cy="438182"/>
            <a:chOff x="5696236" y="5552082"/>
            <a:chExt cx="661068" cy="638246"/>
          </a:xfrm>
        </p:grpSpPr>
        <p:sp>
          <p:nvSpPr>
            <p:cNvPr id="55" name="矩形: 对角圆角 54"/>
            <p:cNvSpPr/>
            <p:nvPr/>
          </p:nvSpPr>
          <p:spPr>
            <a:xfrm>
              <a:off x="6014101" y="5552082"/>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1354095" y="383921"/>
            <a:ext cx="4994288" cy="859417"/>
            <a:chOff x="6309951" y="2453552"/>
            <a:chExt cx="4994288" cy="859417"/>
          </a:xfrm>
        </p:grpSpPr>
        <p:sp>
          <p:nvSpPr>
            <p:cNvPr id="12" name="矩形: 对角圆角 11"/>
            <p:cNvSpPr/>
            <p:nvPr/>
          </p:nvSpPr>
          <p:spPr>
            <a:xfrm>
              <a:off x="7645045" y="2453552"/>
              <a:ext cx="2324100" cy="49409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435370" y="2469766"/>
              <a:ext cx="4743450" cy="461665"/>
            </a:xfrm>
            <a:prstGeom prst="rect">
              <a:avLst/>
            </a:prstGeom>
            <a:noFill/>
          </p:spPr>
          <p:txBody>
            <a:bodyPr wrap="square">
              <a:spAutoFit/>
            </a:bodyPr>
            <a:lstStyle/>
            <a:p>
              <a:pPr algn="ctr"/>
              <a:r>
                <a:rPr lang="zh-CN" altLang="en-US" sz="24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养老政策支持</a:t>
              </a:r>
            </a:p>
          </p:txBody>
        </p:sp>
        <p:sp>
          <p:nvSpPr>
            <p:cNvPr id="57" name="文本框 56"/>
            <p:cNvSpPr txBox="1"/>
            <p:nvPr/>
          </p:nvSpPr>
          <p:spPr>
            <a:xfrm>
              <a:off x="6309951" y="2974415"/>
              <a:ext cx="4994288" cy="338554"/>
            </a:xfrm>
            <a:prstGeom prst="rect">
              <a:avLst/>
            </a:prstGeom>
            <a:noFill/>
          </p:spPr>
          <p:txBody>
            <a:bodyPr wrap="square">
              <a:spAutoFit/>
            </a:bodyPr>
            <a:lstStyle/>
            <a:p>
              <a:pPr algn="ctr"/>
              <a:r>
                <a:rPr lang="en-US" altLang="zh-CN"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Pension policy support</a:t>
              </a:r>
            </a:p>
          </p:txBody>
        </p:sp>
      </p:grpSp>
      <p:grpSp>
        <p:nvGrpSpPr>
          <p:cNvPr id="7" name="组合 6"/>
          <p:cNvGrpSpPr/>
          <p:nvPr/>
        </p:nvGrpSpPr>
        <p:grpSpPr>
          <a:xfrm>
            <a:off x="457305" y="1663456"/>
            <a:ext cx="6464177" cy="4350584"/>
            <a:chOff x="437428" y="1609142"/>
            <a:chExt cx="6464177" cy="4350584"/>
          </a:xfrm>
        </p:grpSpPr>
        <p:grpSp>
          <p:nvGrpSpPr>
            <p:cNvPr id="58" name="组合 57"/>
            <p:cNvGrpSpPr/>
            <p:nvPr/>
          </p:nvGrpSpPr>
          <p:grpSpPr>
            <a:xfrm>
              <a:off x="437428" y="1609142"/>
              <a:ext cx="6464177" cy="1074956"/>
              <a:chOff x="7811494" y="1936300"/>
              <a:chExt cx="6464177" cy="1074956"/>
            </a:xfrm>
          </p:grpSpPr>
          <p:sp>
            <p:nvSpPr>
              <p:cNvPr id="70" name="文本框 9"/>
              <p:cNvSpPr txBox="1"/>
              <p:nvPr/>
            </p:nvSpPr>
            <p:spPr>
              <a:xfrm>
                <a:off x="9125532" y="1936300"/>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养老政策</a:t>
                </a:r>
              </a:p>
            </p:txBody>
          </p:sp>
          <p:sp>
            <p:nvSpPr>
              <p:cNvPr id="71" name="文本框 70"/>
              <p:cNvSpPr txBox="1"/>
              <p:nvPr/>
            </p:nvSpPr>
            <p:spPr>
              <a:xfrm>
                <a:off x="9125532" y="2388521"/>
                <a:ext cx="5150139" cy="622735"/>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Mercury—and its atmosphere</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nvGrpSpPr>
              <p:cNvPr id="72" name="组合 71"/>
              <p:cNvGrpSpPr/>
              <p:nvPr/>
            </p:nvGrpSpPr>
            <p:grpSpPr>
              <a:xfrm>
                <a:off x="7811494" y="2142108"/>
                <a:ext cx="1365223" cy="641858"/>
                <a:chOff x="7811494" y="2142108"/>
                <a:chExt cx="1365223" cy="641858"/>
              </a:xfrm>
            </p:grpSpPr>
            <p:sp>
              <p:nvSpPr>
                <p:cNvPr id="78" name="矩形: 对角圆角 77"/>
                <p:cNvSpPr/>
                <p:nvPr/>
              </p:nvSpPr>
              <p:spPr>
                <a:xfrm>
                  <a:off x="8107390" y="2142108"/>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文本框 9"/>
                <p:cNvSpPr txBox="1"/>
                <p:nvPr/>
              </p:nvSpPr>
              <p:spPr>
                <a:xfrm>
                  <a:off x="7811494" y="2201427"/>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01</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grpSp>
          <p:nvGrpSpPr>
            <p:cNvPr id="80" name="组合 79"/>
            <p:cNvGrpSpPr/>
            <p:nvPr/>
          </p:nvGrpSpPr>
          <p:grpSpPr>
            <a:xfrm>
              <a:off x="437428" y="3246956"/>
              <a:ext cx="6464177" cy="1074956"/>
              <a:chOff x="7811494" y="1936300"/>
              <a:chExt cx="6464177" cy="1074956"/>
            </a:xfrm>
          </p:grpSpPr>
          <p:sp>
            <p:nvSpPr>
              <p:cNvPr id="81" name="文本框 9"/>
              <p:cNvSpPr txBox="1"/>
              <p:nvPr/>
            </p:nvSpPr>
            <p:spPr>
              <a:xfrm>
                <a:off x="9125532" y="1936300"/>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养老政策</a:t>
                </a:r>
              </a:p>
            </p:txBody>
          </p:sp>
          <p:sp>
            <p:nvSpPr>
              <p:cNvPr id="82" name="文本框 81"/>
              <p:cNvSpPr txBox="1"/>
              <p:nvPr/>
            </p:nvSpPr>
            <p:spPr>
              <a:xfrm>
                <a:off x="9125532" y="2388521"/>
                <a:ext cx="5150139" cy="622735"/>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Mercury—and its atmosphere</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nvGrpSpPr>
              <p:cNvPr id="83" name="组合 82"/>
              <p:cNvGrpSpPr/>
              <p:nvPr/>
            </p:nvGrpSpPr>
            <p:grpSpPr>
              <a:xfrm>
                <a:off x="7811494" y="2142108"/>
                <a:ext cx="1365223" cy="641858"/>
                <a:chOff x="7811494" y="2142108"/>
                <a:chExt cx="1365223" cy="641858"/>
              </a:xfrm>
            </p:grpSpPr>
            <p:sp>
              <p:nvSpPr>
                <p:cNvPr id="84" name="矩形: 对角圆角 83"/>
                <p:cNvSpPr/>
                <p:nvPr/>
              </p:nvSpPr>
              <p:spPr>
                <a:xfrm>
                  <a:off x="8107390" y="2142108"/>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9"/>
                <p:cNvSpPr txBox="1"/>
                <p:nvPr/>
              </p:nvSpPr>
              <p:spPr>
                <a:xfrm>
                  <a:off x="7811494" y="2201427"/>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02</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grpSp>
          <p:nvGrpSpPr>
            <p:cNvPr id="86" name="组合 85"/>
            <p:cNvGrpSpPr/>
            <p:nvPr/>
          </p:nvGrpSpPr>
          <p:grpSpPr>
            <a:xfrm>
              <a:off x="437428" y="4884770"/>
              <a:ext cx="6464177" cy="1074956"/>
              <a:chOff x="7811494" y="1936300"/>
              <a:chExt cx="6464177" cy="1074956"/>
            </a:xfrm>
          </p:grpSpPr>
          <p:sp>
            <p:nvSpPr>
              <p:cNvPr id="87" name="文本框 9"/>
              <p:cNvSpPr txBox="1"/>
              <p:nvPr/>
            </p:nvSpPr>
            <p:spPr>
              <a:xfrm>
                <a:off x="9125532" y="1936300"/>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养老政策</a:t>
                </a:r>
              </a:p>
            </p:txBody>
          </p:sp>
          <p:sp>
            <p:nvSpPr>
              <p:cNvPr id="88" name="文本框 87"/>
              <p:cNvSpPr txBox="1"/>
              <p:nvPr/>
            </p:nvSpPr>
            <p:spPr>
              <a:xfrm>
                <a:off x="9125532" y="2388521"/>
                <a:ext cx="5150139" cy="622735"/>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Mercury—and its atmosphere</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nvGrpSpPr>
              <p:cNvPr id="89" name="组合 88"/>
              <p:cNvGrpSpPr/>
              <p:nvPr/>
            </p:nvGrpSpPr>
            <p:grpSpPr>
              <a:xfrm>
                <a:off x="7811494" y="2142108"/>
                <a:ext cx="1365223" cy="641858"/>
                <a:chOff x="7811494" y="2142108"/>
                <a:chExt cx="1365223" cy="641858"/>
              </a:xfrm>
            </p:grpSpPr>
            <p:sp>
              <p:nvSpPr>
                <p:cNvPr id="90" name="矩形: 对角圆角 89"/>
                <p:cNvSpPr/>
                <p:nvPr/>
              </p:nvSpPr>
              <p:spPr>
                <a:xfrm>
                  <a:off x="8107390" y="2142108"/>
                  <a:ext cx="773432" cy="641858"/>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文本框 9"/>
                <p:cNvSpPr txBox="1"/>
                <p:nvPr/>
              </p:nvSpPr>
              <p:spPr>
                <a:xfrm>
                  <a:off x="7811494" y="2201427"/>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03</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76225" y="314885"/>
            <a:ext cx="11639550" cy="6228231"/>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168431" y="6075650"/>
            <a:ext cx="746290" cy="578097"/>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383649" y="165961"/>
            <a:ext cx="746290" cy="578097"/>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3" name="矩形: 对角圆角 52"/>
          <p:cNvSpPr/>
          <p:nvPr/>
        </p:nvSpPr>
        <p:spPr>
          <a:xfrm>
            <a:off x="541576" y="203640"/>
            <a:ext cx="672411" cy="55802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32031" y="1107110"/>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0870079" y="5565586"/>
            <a:ext cx="942914" cy="1041817"/>
            <a:chOff x="5696236" y="5459920"/>
            <a:chExt cx="661068" cy="730408"/>
          </a:xfrm>
        </p:grpSpPr>
        <p:sp>
          <p:nvSpPr>
            <p:cNvPr id="55" name="矩形: 对角圆角 54"/>
            <p:cNvSpPr/>
            <p:nvPr/>
          </p:nvSpPr>
          <p:spPr>
            <a:xfrm>
              <a:off x="6014101" y="5459920"/>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2419471" y="1634416"/>
            <a:ext cx="7353058" cy="3589169"/>
            <a:chOff x="2419471" y="2138652"/>
            <a:chExt cx="7353058" cy="3589169"/>
          </a:xfrm>
        </p:grpSpPr>
        <p:sp>
          <p:nvSpPr>
            <p:cNvPr id="15" name="矩形: 圆角 14"/>
            <p:cNvSpPr/>
            <p:nvPr/>
          </p:nvSpPr>
          <p:spPr>
            <a:xfrm>
              <a:off x="5129151" y="2152995"/>
              <a:ext cx="1933698" cy="494535"/>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2419471" y="3005645"/>
              <a:ext cx="7353058" cy="2722176"/>
              <a:chOff x="5130566" y="2399245"/>
              <a:chExt cx="7353058" cy="2722176"/>
            </a:xfrm>
          </p:grpSpPr>
          <p:sp>
            <p:nvSpPr>
              <p:cNvPr id="12" name="矩形: 对角圆角 11"/>
              <p:cNvSpPr/>
              <p:nvPr/>
            </p:nvSpPr>
            <p:spPr>
              <a:xfrm>
                <a:off x="5998951" y="2399245"/>
                <a:ext cx="5616289" cy="106020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5819705" y="4221688"/>
                <a:ext cx="5974780" cy="899733"/>
              </a:xfrm>
              <a:prstGeom prst="rect">
                <a:avLst/>
              </a:prstGeom>
              <a:noFill/>
            </p:spPr>
            <p:txBody>
              <a:bodyPr wrap="square">
                <a:spAutoFit/>
              </a:bodyPr>
              <a:lstStyle/>
              <a:p>
                <a:pPr algn="ctr">
                  <a:lnSpc>
                    <a:spcPct val="150000"/>
                  </a:lnSpc>
                  <a:spcBef>
                    <a:spcPts val="800"/>
                  </a:spcBef>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OPPOSans R" panose="00020600040101010101" pitchFamily="18" charset="-122"/>
                    <a:sym typeface="汉仪旗黑X1-55W" panose="00020600040101010101" pitchFamily="18" charset="-122"/>
                  </a:rPr>
                  <a:t>It could be the part of the presentation where you can introduce your company or agency. It could be the part of the presentation where you can introduce your company or agency. </a:t>
                </a:r>
              </a:p>
            </p:txBody>
          </p:sp>
          <p:sp>
            <p:nvSpPr>
              <p:cNvPr id="21" name="文本框 20"/>
              <p:cNvSpPr txBox="1"/>
              <p:nvPr/>
            </p:nvSpPr>
            <p:spPr>
              <a:xfrm>
                <a:off x="5315220" y="2505780"/>
                <a:ext cx="6983750" cy="923330"/>
              </a:xfrm>
              <a:prstGeom prst="rect">
                <a:avLst/>
              </a:prstGeom>
              <a:noFill/>
            </p:spPr>
            <p:txBody>
              <a:bodyPr wrap="square">
                <a:spAutoFit/>
              </a:bodyPr>
              <a:lstStyle/>
              <a:p>
                <a:pPr algn="ctr"/>
                <a:r>
                  <a:rPr lang="zh-CN" altLang="en-US" sz="54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智慧养老措施</a:t>
                </a:r>
              </a:p>
            </p:txBody>
          </p:sp>
          <p:cxnSp>
            <p:nvCxnSpPr>
              <p:cNvPr id="24" name="直接连接符 23"/>
              <p:cNvCxnSpPr/>
              <p:nvPr/>
            </p:nvCxnSpPr>
            <p:spPr>
              <a:xfrm>
                <a:off x="6035329" y="4092920"/>
                <a:ext cx="5543533" cy="0"/>
              </a:xfrm>
              <a:prstGeom prst="line">
                <a:avLst/>
              </a:prstGeom>
              <a:ln w="12700">
                <a:solidFill>
                  <a:srgbClr val="0A3181"/>
                </a:solidFill>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5130566" y="3474265"/>
                <a:ext cx="7353058" cy="584775"/>
              </a:xfrm>
              <a:prstGeom prst="rect">
                <a:avLst/>
              </a:prstGeom>
              <a:noFill/>
            </p:spPr>
            <p:txBody>
              <a:bodyPr wrap="square">
                <a:spAutoFit/>
              </a:bodyPr>
              <a:lstStyle/>
              <a:p>
                <a:pPr algn="ctr"/>
                <a:r>
                  <a:rPr lang="en-US" altLang="zh-CN" sz="32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Smart pension measures</a:t>
                </a:r>
                <a:endParaRPr lang="zh-CN" altLang="en-US" sz="32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sp>
          <p:nvSpPr>
            <p:cNvPr id="58" name="文本框 57"/>
            <p:cNvSpPr txBox="1"/>
            <p:nvPr/>
          </p:nvSpPr>
          <p:spPr>
            <a:xfrm>
              <a:off x="4209965" y="2138652"/>
              <a:ext cx="3772070" cy="523220"/>
            </a:xfrm>
            <a:prstGeom prst="rect">
              <a:avLst/>
            </a:prstGeom>
            <a:noFill/>
          </p:spPr>
          <p:txBody>
            <a:bodyPr wrap="square">
              <a:spAutoFit/>
            </a:bodyPr>
            <a:lstStyle/>
            <a:p>
              <a:pPr algn="ctr" rtl="0"/>
              <a:r>
                <a:rPr lang="en-US" altLang="zh-CN" sz="2800" b="1" i="0" dirty="0">
                  <a:solidFill>
                    <a:schemeClr val="bg1"/>
                  </a:solidFill>
                  <a:effectLst/>
                  <a:latin typeface="思源宋体 CN Heavy" pitchFamily="18" charset="-122"/>
                  <a:ea typeface="思源宋体 CN Heavy" pitchFamily="18" charset="-122"/>
                  <a:sym typeface="汉仪中宋S" panose="00020600040101010101" pitchFamily="18" charset="-122"/>
                </a:rPr>
                <a:t>Part 03</a:t>
              </a: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69143" y="157442"/>
            <a:ext cx="11853714" cy="6543116"/>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4430" y="6425451"/>
            <a:ext cx="513631" cy="397873"/>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616307" y="165961"/>
            <a:ext cx="513631" cy="397873"/>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 name="组合 3"/>
          <p:cNvGrpSpPr/>
          <p:nvPr/>
        </p:nvGrpSpPr>
        <p:grpSpPr>
          <a:xfrm>
            <a:off x="301246" y="239134"/>
            <a:ext cx="267971" cy="485137"/>
            <a:chOff x="513690" y="203640"/>
            <a:chExt cx="479247" cy="867633"/>
          </a:xfrm>
        </p:grpSpPr>
        <p:sp>
          <p:nvSpPr>
            <p:cNvPr id="53" name="矩形: 对角圆角 52"/>
            <p:cNvSpPr/>
            <p:nvPr/>
          </p:nvSpPr>
          <p:spPr>
            <a:xfrm>
              <a:off x="541576" y="203640"/>
              <a:ext cx="451361" cy="374575"/>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13690" y="784342"/>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1487194" y="6169223"/>
            <a:ext cx="453850" cy="438182"/>
            <a:chOff x="5696236" y="5552082"/>
            <a:chExt cx="661068" cy="638246"/>
          </a:xfrm>
        </p:grpSpPr>
        <p:sp>
          <p:nvSpPr>
            <p:cNvPr id="55" name="矩形: 对角圆角 54"/>
            <p:cNvSpPr/>
            <p:nvPr/>
          </p:nvSpPr>
          <p:spPr>
            <a:xfrm>
              <a:off x="6014101" y="5552082"/>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3598856" y="383921"/>
            <a:ext cx="4994288" cy="859417"/>
            <a:chOff x="6309951" y="2453552"/>
            <a:chExt cx="4994288" cy="859417"/>
          </a:xfrm>
        </p:grpSpPr>
        <p:sp>
          <p:nvSpPr>
            <p:cNvPr id="12" name="矩形: 对角圆角 11"/>
            <p:cNvSpPr/>
            <p:nvPr/>
          </p:nvSpPr>
          <p:spPr>
            <a:xfrm>
              <a:off x="7645045" y="2453552"/>
              <a:ext cx="2324100" cy="49409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435370" y="2469766"/>
              <a:ext cx="4743450" cy="461665"/>
            </a:xfrm>
            <a:prstGeom prst="rect">
              <a:avLst/>
            </a:prstGeom>
            <a:noFill/>
          </p:spPr>
          <p:txBody>
            <a:bodyPr wrap="square">
              <a:spAutoFit/>
            </a:bodyPr>
            <a:lstStyle/>
            <a:p>
              <a:pPr algn="ctr"/>
              <a:r>
                <a:rPr lang="zh-CN" altLang="en-US" sz="24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智慧养老措施</a:t>
              </a:r>
            </a:p>
          </p:txBody>
        </p:sp>
        <p:sp>
          <p:nvSpPr>
            <p:cNvPr id="57" name="文本框 56"/>
            <p:cNvSpPr txBox="1"/>
            <p:nvPr/>
          </p:nvSpPr>
          <p:spPr>
            <a:xfrm>
              <a:off x="6309951" y="2974415"/>
              <a:ext cx="4994288" cy="338554"/>
            </a:xfrm>
            <a:prstGeom prst="rect">
              <a:avLst/>
            </a:prstGeom>
            <a:noFill/>
          </p:spPr>
          <p:txBody>
            <a:bodyPr wrap="square">
              <a:spAutoFit/>
            </a:bodyPr>
            <a:lstStyle/>
            <a:p>
              <a:pPr algn="ctr"/>
              <a:r>
                <a:rPr lang="en-US" altLang="zh-CN"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Smart pension measures</a:t>
              </a:r>
              <a:endParaRPr lang="zh-CN" altLang="en-US"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sp>
        <p:nvSpPr>
          <p:cNvPr id="52" name="矩形: 对角圆角 51"/>
          <p:cNvSpPr/>
          <p:nvPr/>
        </p:nvSpPr>
        <p:spPr>
          <a:xfrm>
            <a:off x="503442" y="3694383"/>
            <a:ext cx="11185116" cy="157476"/>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516363" y="2153493"/>
            <a:ext cx="9159275" cy="1420295"/>
            <a:chOff x="1331419" y="2137279"/>
            <a:chExt cx="9159275" cy="1420295"/>
          </a:xfrm>
        </p:grpSpPr>
        <p:grpSp>
          <p:nvGrpSpPr>
            <p:cNvPr id="13" name="组合 12"/>
            <p:cNvGrpSpPr/>
            <p:nvPr/>
          </p:nvGrpSpPr>
          <p:grpSpPr>
            <a:xfrm>
              <a:off x="1331419" y="2137279"/>
              <a:ext cx="4431690" cy="1420295"/>
              <a:chOff x="44430" y="1621908"/>
              <a:chExt cx="4431690" cy="1420295"/>
            </a:xfrm>
          </p:grpSpPr>
          <p:sp>
            <p:nvSpPr>
              <p:cNvPr id="61" name="文本框 9"/>
              <p:cNvSpPr txBox="1"/>
              <p:nvPr/>
            </p:nvSpPr>
            <p:spPr>
              <a:xfrm>
                <a:off x="717036" y="1621908"/>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a:t>
                </a:r>
              </a:p>
            </p:txBody>
          </p:sp>
          <p:sp>
            <p:nvSpPr>
              <p:cNvPr id="62" name="文本框 61"/>
              <p:cNvSpPr txBox="1"/>
              <p:nvPr/>
            </p:nvSpPr>
            <p:spPr>
              <a:xfrm>
                <a:off x="44430" y="2188737"/>
                <a:ext cx="3216034" cy="622735"/>
              </a:xfrm>
              <a:prstGeom prst="rect">
                <a:avLst/>
              </a:prstGeom>
              <a:noFill/>
            </p:spPr>
            <p:txBody>
              <a:bodyPr wrap="square">
                <a:spAutoFit/>
              </a:bodyPr>
              <a:lstStyle/>
              <a:p>
                <a:pPr algn="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nvGrpSpPr>
              <p:cNvPr id="63" name="组合 62"/>
              <p:cNvGrpSpPr/>
              <p:nvPr/>
            </p:nvGrpSpPr>
            <p:grpSpPr>
              <a:xfrm>
                <a:off x="3110897" y="1650743"/>
                <a:ext cx="1365223" cy="641858"/>
                <a:chOff x="7811494" y="2043285"/>
                <a:chExt cx="1365223" cy="641858"/>
              </a:xfrm>
            </p:grpSpPr>
            <p:sp>
              <p:nvSpPr>
                <p:cNvPr id="69" name="矩形: 对角圆角 68"/>
                <p:cNvSpPr/>
                <p:nvPr/>
              </p:nvSpPr>
              <p:spPr>
                <a:xfrm flipH="1">
                  <a:off x="8107390" y="2043285"/>
                  <a:ext cx="773432" cy="641858"/>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9"/>
                <p:cNvSpPr txBox="1"/>
                <p:nvPr/>
              </p:nvSpPr>
              <p:spPr>
                <a:xfrm>
                  <a:off x="7811494" y="2102604"/>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02</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cxnSp>
            <p:nvCxnSpPr>
              <p:cNvPr id="6" name="直接连接符 5"/>
              <p:cNvCxnSpPr/>
              <p:nvPr/>
            </p:nvCxnSpPr>
            <p:spPr>
              <a:xfrm flipH="1">
                <a:off x="3793509" y="2425551"/>
                <a:ext cx="0" cy="616652"/>
              </a:xfrm>
              <a:prstGeom prst="line">
                <a:avLst/>
              </a:prstGeom>
              <a:ln w="22225">
                <a:solidFill>
                  <a:srgbClr val="086DCE"/>
                </a:solidFill>
              </a:ln>
            </p:spPr>
            <p:style>
              <a:lnRef idx="1">
                <a:schemeClr val="accent1"/>
              </a:lnRef>
              <a:fillRef idx="0">
                <a:schemeClr val="accent1"/>
              </a:fillRef>
              <a:effectRef idx="0">
                <a:schemeClr val="accent1"/>
              </a:effectRef>
              <a:fontRef idx="minor">
                <a:schemeClr val="tx1"/>
              </a:fontRef>
            </p:style>
          </p:cxnSp>
        </p:grpSp>
        <p:grpSp>
          <p:nvGrpSpPr>
            <p:cNvPr id="89" name="组合 88"/>
            <p:cNvGrpSpPr/>
            <p:nvPr/>
          </p:nvGrpSpPr>
          <p:grpSpPr>
            <a:xfrm>
              <a:off x="6059004" y="2137279"/>
              <a:ext cx="4431690" cy="1420295"/>
              <a:chOff x="44430" y="1621908"/>
              <a:chExt cx="4431690" cy="1420295"/>
            </a:xfrm>
          </p:grpSpPr>
          <p:sp>
            <p:nvSpPr>
              <p:cNvPr id="90" name="文本框 9"/>
              <p:cNvSpPr txBox="1"/>
              <p:nvPr/>
            </p:nvSpPr>
            <p:spPr>
              <a:xfrm>
                <a:off x="717036" y="1621908"/>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a:t>
                </a:r>
              </a:p>
            </p:txBody>
          </p:sp>
          <p:sp>
            <p:nvSpPr>
              <p:cNvPr id="91" name="文本框 90"/>
              <p:cNvSpPr txBox="1"/>
              <p:nvPr/>
            </p:nvSpPr>
            <p:spPr>
              <a:xfrm>
                <a:off x="44430" y="2188737"/>
                <a:ext cx="3216034" cy="622735"/>
              </a:xfrm>
              <a:prstGeom prst="rect">
                <a:avLst/>
              </a:prstGeom>
              <a:noFill/>
            </p:spPr>
            <p:txBody>
              <a:bodyPr wrap="square">
                <a:spAutoFit/>
              </a:bodyPr>
              <a:lstStyle/>
              <a:p>
                <a:pPr algn="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nvGrpSpPr>
              <p:cNvPr id="92" name="组合 91"/>
              <p:cNvGrpSpPr/>
              <p:nvPr/>
            </p:nvGrpSpPr>
            <p:grpSpPr>
              <a:xfrm>
                <a:off x="3110897" y="1650743"/>
                <a:ext cx="1365223" cy="641858"/>
                <a:chOff x="7811494" y="2043285"/>
                <a:chExt cx="1365223" cy="641858"/>
              </a:xfrm>
            </p:grpSpPr>
            <p:sp>
              <p:nvSpPr>
                <p:cNvPr id="94" name="矩形: 对角圆角 93"/>
                <p:cNvSpPr/>
                <p:nvPr/>
              </p:nvSpPr>
              <p:spPr>
                <a:xfrm flipH="1">
                  <a:off x="8107390" y="2043285"/>
                  <a:ext cx="773432" cy="641858"/>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文本框 9"/>
                <p:cNvSpPr txBox="1"/>
                <p:nvPr/>
              </p:nvSpPr>
              <p:spPr>
                <a:xfrm>
                  <a:off x="7811494" y="2102604"/>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04</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cxnSp>
            <p:nvCxnSpPr>
              <p:cNvPr id="93" name="直接连接符 92"/>
              <p:cNvCxnSpPr/>
              <p:nvPr/>
            </p:nvCxnSpPr>
            <p:spPr>
              <a:xfrm flipH="1">
                <a:off x="3793509" y="2425551"/>
                <a:ext cx="0" cy="616652"/>
              </a:xfrm>
              <a:prstGeom prst="line">
                <a:avLst/>
              </a:prstGeom>
              <a:ln w="22225">
                <a:solidFill>
                  <a:srgbClr val="086DCE"/>
                </a:solidFill>
              </a:ln>
            </p:spPr>
            <p:style>
              <a:lnRef idx="1">
                <a:schemeClr val="accent1"/>
              </a:lnRef>
              <a:fillRef idx="0">
                <a:schemeClr val="accent1"/>
              </a:fillRef>
              <a:effectRef idx="0">
                <a:schemeClr val="accent1"/>
              </a:effectRef>
              <a:fontRef idx="minor">
                <a:schemeClr val="tx1"/>
              </a:fontRef>
            </p:style>
          </p:cxnSp>
        </p:grpSp>
      </p:grpSp>
      <p:grpSp>
        <p:nvGrpSpPr>
          <p:cNvPr id="14" name="组合 13"/>
          <p:cNvGrpSpPr/>
          <p:nvPr/>
        </p:nvGrpSpPr>
        <p:grpSpPr>
          <a:xfrm>
            <a:off x="1426363" y="4109990"/>
            <a:ext cx="9339274" cy="1340577"/>
            <a:chOff x="1513117" y="4093776"/>
            <a:chExt cx="9339274" cy="1340577"/>
          </a:xfrm>
        </p:grpSpPr>
        <p:grpSp>
          <p:nvGrpSpPr>
            <p:cNvPr id="82" name="组合 81"/>
            <p:cNvGrpSpPr/>
            <p:nvPr/>
          </p:nvGrpSpPr>
          <p:grpSpPr>
            <a:xfrm>
              <a:off x="1513117" y="4093776"/>
              <a:ext cx="4544783" cy="1340577"/>
              <a:chOff x="3110897" y="952024"/>
              <a:chExt cx="4544783" cy="1340577"/>
            </a:xfrm>
          </p:grpSpPr>
          <p:sp>
            <p:nvSpPr>
              <p:cNvPr id="83" name="文本框 9"/>
              <p:cNvSpPr txBox="1"/>
              <p:nvPr/>
            </p:nvSpPr>
            <p:spPr>
              <a:xfrm>
                <a:off x="4439646" y="1735324"/>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a:t>
                </a:r>
              </a:p>
            </p:txBody>
          </p:sp>
          <p:sp>
            <p:nvSpPr>
              <p:cNvPr id="84" name="文本框 83"/>
              <p:cNvSpPr txBox="1"/>
              <p:nvPr/>
            </p:nvSpPr>
            <p:spPr>
              <a:xfrm>
                <a:off x="4439646" y="952024"/>
                <a:ext cx="3216034" cy="622735"/>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nvGrpSpPr>
              <p:cNvPr id="85" name="组合 84"/>
              <p:cNvGrpSpPr/>
              <p:nvPr/>
            </p:nvGrpSpPr>
            <p:grpSpPr>
              <a:xfrm>
                <a:off x="3110897" y="1650743"/>
                <a:ext cx="1365223" cy="641858"/>
                <a:chOff x="7811494" y="2043285"/>
                <a:chExt cx="1365223" cy="641858"/>
              </a:xfrm>
            </p:grpSpPr>
            <p:sp>
              <p:nvSpPr>
                <p:cNvPr id="87" name="矩形: 对角圆角 86"/>
                <p:cNvSpPr/>
                <p:nvPr/>
              </p:nvSpPr>
              <p:spPr>
                <a:xfrm flipH="1">
                  <a:off x="8107390" y="2043285"/>
                  <a:ext cx="773432" cy="641858"/>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9"/>
                <p:cNvSpPr txBox="1"/>
                <p:nvPr/>
              </p:nvSpPr>
              <p:spPr>
                <a:xfrm>
                  <a:off x="7811494" y="2102604"/>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01</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cxnSp>
            <p:nvCxnSpPr>
              <p:cNvPr id="86" name="直接连接符 85"/>
              <p:cNvCxnSpPr/>
              <p:nvPr/>
            </p:nvCxnSpPr>
            <p:spPr>
              <a:xfrm flipH="1">
                <a:off x="3793509" y="967156"/>
                <a:ext cx="0" cy="616652"/>
              </a:xfrm>
              <a:prstGeom prst="line">
                <a:avLst/>
              </a:prstGeom>
              <a:ln w="22225">
                <a:solidFill>
                  <a:srgbClr val="086DCE"/>
                </a:solidFill>
              </a:ln>
            </p:spPr>
            <p:style>
              <a:lnRef idx="1">
                <a:schemeClr val="accent1"/>
              </a:lnRef>
              <a:fillRef idx="0">
                <a:schemeClr val="accent1"/>
              </a:fillRef>
              <a:effectRef idx="0">
                <a:schemeClr val="accent1"/>
              </a:effectRef>
              <a:fontRef idx="minor">
                <a:schemeClr val="tx1"/>
              </a:fontRef>
            </p:style>
          </p:cxnSp>
        </p:grpSp>
        <p:grpSp>
          <p:nvGrpSpPr>
            <p:cNvPr id="96" name="组合 95"/>
            <p:cNvGrpSpPr/>
            <p:nvPr/>
          </p:nvGrpSpPr>
          <p:grpSpPr>
            <a:xfrm>
              <a:off x="6307608" y="4093776"/>
              <a:ext cx="4544783" cy="1340577"/>
              <a:chOff x="3110897" y="952024"/>
              <a:chExt cx="4544783" cy="1340577"/>
            </a:xfrm>
          </p:grpSpPr>
          <p:sp>
            <p:nvSpPr>
              <p:cNvPr id="97" name="文本框 9"/>
              <p:cNvSpPr txBox="1"/>
              <p:nvPr/>
            </p:nvSpPr>
            <p:spPr>
              <a:xfrm>
                <a:off x="4439646" y="1735324"/>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a:t>
                </a:r>
              </a:p>
            </p:txBody>
          </p:sp>
          <p:sp>
            <p:nvSpPr>
              <p:cNvPr id="98" name="文本框 97"/>
              <p:cNvSpPr txBox="1"/>
              <p:nvPr/>
            </p:nvSpPr>
            <p:spPr>
              <a:xfrm>
                <a:off x="4439646" y="952024"/>
                <a:ext cx="3216034" cy="622735"/>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nvGrpSpPr>
              <p:cNvPr id="99" name="组合 98"/>
              <p:cNvGrpSpPr/>
              <p:nvPr/>
            </p:nvGrpSpPr>
            <p:grpSpPr>
              <a:xfrm>
                <a:off x="3110897" y="1650743"/>
                <a:ext cx="1365223" cy="641858"/>
                <a:chOff x="7811494" y="2043285"/>
                <a:chExt cx="1365223" cy="641858"/>
              </a:xfrm>
            </p:grpSpPr>
            <p:sp>
              <p:nvSpPr>
                <p:cNvPr id="101" name="矩形: 对角圆角 100"/>
                <p:cNvSpPr/>
                <p:nvPr/>
              </p:nvSpPr>
              <p:spPr>
                <a:xfrm flipH="1">
                  <a:off x="8107390" y="2043285"/>
                  <a:ext cx="773432" cy="641858"/>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9"/>
                <p:cNvSpPr txBox="1"/>
                <p:nvPr/>
              </p:nvSpPr>
              <p:spPr>
                <a:xfrm>
                  <a:off x="7811494" y="2102604"/>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03</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cxnSp>
            <p:nvCxnSpPr>
              <p:cNvPr id="100" name="直接连接符 99"/>
              <p:cNvCxnSpPr/>
              <p:nvPr/>
            </p:nvCxnSpPr>
            <p:spPr>
              <a:xfrm flipH="1">
                <a:off x="3793509" y="967156"/>
                <a:ext cx="0" cy="616652"/>
              </a:xfrm>
              <a:prstGeom prst="line">
                <a:avLst/>
              </a:prstGeom>
              <a:ln w="22225">
                <a:solidFill>
                  <a:srgbClr val="086DCE"/>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69143" y="157442"/>
            <a:ext cx="11853714" cy="6543116"/>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4430" y="6425451"/>
            <a:ext cx="513631" cy="397873"/>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616307" y="165961"/>
            <a:ext cx="513631" cy="397873"/>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 name="组合 3"/>
          <p:cNvGrpSpPr/>
          <p:nvPr/>
        </p:nvGrpSpPr>
        <p:grpSpPr>
          <a:xfrm>
            <a:off x="301246" y="239134"/>
            <a:ext cx="267971" cy="485137"/>
            <a:chOff x="513690" y="203640"/>
            <a:chExt cx="479247" cy="867633"/>
          </a:xfrm>
        </p:grpSpPr>
        <p:sp>
          <p:nvSpPr>
            <p:cNvPr id="53" name="矩形: 对角圆角 52"/>
            <p:cNvSpPr/>
            <p:nvPr/>
          </p:nvSpPr>
          <p:spPr>
            <a:xfrm>
              <a:off x="541576" y="203640"/>
              <a:ext cx="451361" cy="374575"/>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13690" y="784342"/>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1487194" y="6169223"/>
            <a:ext cx="453850" cy="438182"/>
            <a:chOff x="5696236" y="5552082"/>
            <a:chExt cx="661068" cy="638246"/>
          </a:xfrm>
        </p:grpSpPr>
        <p:sp>
          <p:nvSpPr>
            <p:cNvPr id="55" name="矩形: 对角圆角 54"/>
            <p:cNvSpPr/>
            <p:nvPr/>
          </p:nvSpPr>
          <p:spPr>
            <a:xfrm>
              <a:off x="6014101" y="5552082"/>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3598856" y="383921"/>
            <a:ext cx="4994288" cy="859417"/>
            <a:chOff x="6309951" y="2453552"/>
            <a:chExt cx="4994288" cy="859417"/>
          </a:xfrm>
        </p:grpSpPr>
        <p:sp>
          <p:nvSpPr>
            <p:cNvPr id="12" name="矩形: 对角圆角 11"/>
            <p:cNvSpPr/>
            <p:nvPr/>
          </p:nvSpPr>
          <p:spPr>
            <a:xfrm>
              <a:off x="7645045" y="2453552"/>
              <a:ext cx="2324100" cy="49409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435370" y="2469766"/>
              <a:ext cx="4743450" cy="461665"/>
            </a:xfrm>
            <a:prstGeom prst="rect">
              <a:avLst/>
            </a:prstGeom>
            <a:noFill/>
          </p:spPr>
          <p:txBody>
            <a:bodyPr wrap="square">
              <a:spAutoFit/>
            </a:bodyPr>
            <a:lstStyle/>
            <a:p>
              <a:pPr algn="ctr"/>
              <a:r>
                <a:rPr lang="zh-CN" altLang="en-US" sz="24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智慧养老措施</a:t>
              </a:r>
            </a:p>
          </p:txBody>
        </p:sp>
        <p:sp>
          <p:nvSpPr>
            <p:cNvPr id="57" name="文本框 56"/>
            <p:cNvSpPr txBox="1"/>
            <p:nvPr/>
          </p:nvSpPr>
          <p:spPr>
            <a:xfrm>
              <a:off x="6309951" y="2974415"/>
              <a:ext cx="4994288" cy="338554"/>
            </a:xfrm>
            <a:prstGeom prst="rect">
              <a:avLst/>
            </a:prstGeom>
            <a:noFill/>
          </p:spPr>
          <p:txBody>
            <a:bodyPr wrap="square">
              <a:spAutoFit/>
            </a:bodyPr>
            <a:lstStyle/>
            <a:p>
              <a:pPr algn="ctr"/>
              <a:r>
                <a:rPr lang="en-US" altLang="zh-CN"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Smart pension measures</a:t>
              </a:r>
              <a:endParaRPr lang="zh-CN" altLang="en-US"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grpSp>
        <p:nvGrpSpPr>
          <p:cNvPr id="7" name="组合 6"/>
          <p:cNvGrpSpPr/>
          <p:nvPr/>
        </p:nvGrpSpPr>
        <p:grpSpPr>
          <a:xfrm>
            <a:off x="920419" y="1990680"/>
            <a:ext cx="10351162" cy="3676054"/>
            <a:chOff x="831188" y="1990680"/>
            <a:chExt cx="10351162" cy="3676054"/>
          </a:xfrm>
        </p:grpSpPr>
        <p:grpSp>
          <p:nvGrpSpPr>
            <p:cNvPr id="6" name="组合 5"/>
            <p:cNvGrpSpPr/>
            <p:nvPr/>
          </p:nvGrpSpPr>
          <p:grpSpPr>
            <a:xfrm>
              <a:off x="831188" y="1990680"/>
              <a:ext cx="4674262" cy="1351954"/>
              <a:chOff x="831188" y="1531521"/>
              <a:chExt cx="4674262" cy="1351954"/>
            </a:xfrm>
          </p:grpSpPr>
          <p:sp>
            <p:nvSpPr>
              <p:cNvPr id="52" name="矩形: 对角圆角 51"/>
              <p:cNvSpPr/>
              <p:nvPr/>
            </p:nvSpPr>
            <p:spPr>
              <a:xfrm>
                <a:off x="831188" y="1793550"/>
                <a:ext cx="997612" cy="82789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 name="图形 6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1086510" y="1964014"/>
                <a:ext cx="486968" cy="486968"/>
              </a:xfrm>
              <a:prstGeom prst="rect">
                <a:avLst/>
              </a:prstGeom>
            </p:spPr>
          </p:pic>
          <p:grpSp>
            <p:nvGrpSpPr>
              <p:cNvPr id="5" name="组合 4"/>
              <p:cNvGrpSpPr/>
              <p:nvPr/>
            </p:nvGrpSpPr>
            <p:grpSpPr>
              <a:xfrm>
                <a:off x="2107911" y="1531521"/>
                <a:ext cx="3397539" cy="1351954"/>
                <a:chOff x="2107911" y="1531521"/>
                <a:chExt cx="3397539" cy="1351954"/>
              </a:xfrm>
            </p:grpSpPr>
            <p:sp>
              <p:nvSpPr>
                <p:cNvPr id="62" name="文本框 9"/>
                <p:cNvSpPr txBox="1"/>
                <p:nvPr/>
              </p:nvSpPr>
              <p:spPr>
                <a:xfrm>
                  <a:off x="2107911" y="1531521"/>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智慧养老措施</a:t>
                  </a:r>
                </a:p>
              </p:txBody>
            </p:sp>
            <p:sp>
              <p:nvSpPr>
                <p:cNvPr id="63" name="文本框 62"/>
                <p:cNvSpPr txBox="1"/>
                <p:nvPr/>
              </p:nvSpPr>
              <p:spPr>
                <a:xfrm>
                  <a:off x="2107911" y="1983742"/>
                  <a:ext cx="3397539" cy="899733"/>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grpSp>
          <p:nvGrpSpPr>
            <p:cNvPr id="64" name="组合 63"/>
            <p:cNvGrpSpPr/>
            <p:nvPr/>
          </p:nvGrpSpPr>
          <p:grpSpPr>
            <a:xfrm>
              <a:off x="831188" y="4314780"/>
              <a:ext cx="4674262" cy="1351954"/>
              <a:chOff x="831188" y="1531521"/>
              <a:chExt cx="4674262" cy="1351954"/>
            </a:xfrm>
          </p:grpSpPr>
          <p:sp>
            <p:nvSpPr>
              <p:cNvPr id="65" name="矩形: 对角圆角 64"/>
              <p:cNvSpPr/>
              <p:nvPr/>
            </p:nvSpPr>
            <p:spPr>
              <a:xfrm flipH="1">
                <a:off x="831188" y="1793550"/>
                <a:ext cx="997612" cy="82789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6" name="图形 6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86510" y="1964014"/>
                <a:ext cx="486968" cy="486968"/>
              </a:xfrm>
              <a:prstGeom prst="rect">
                <a:avLst/>
              </a:prstGeom>
            </p:spPr>
          </p:pic>
          <p:grpSp>
            <p:nvGrpSpPr>
              <p:cNvPr id="67" name="组合 66"/>
              <p:cNvGrpSpPr/>
              <p:nvPr/>
            </p:nvGrpSpPr>
            <p:grpSpPr>
              <a:xfrm>
                <a:off x="2107911" y="1531521"/>
                <a:ext cx="3397539" cy="1351954"/>
                <a:chOff x="2107911" y="1531521"/>
                <a:chExt cx="3397539" cy="1351954"/>
              </a:xfrm>
            </p:grpSpPr>
            <p:sp>
              <p:nvSpPr>
                <p:cNvPr id="68" name="文本框 9"/>
                <p:cNvSpPr txBox="1"/>
                <p:nvPr/>
              </p:nvSpPr>
              <p:spPr>
                <a:xfrm>
                  <a:off x="2107911" y="1531521"/>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智慧养老措施</a:t>
                  </a:r>
                </a:p>
              </p:txBody>
            </p:sp>
            <p:sp>
              <p:nvSpPr>
                <p:cNvPr id="69" name="文本框 68"/>
                <p:cNvSpPr txBox="1"/>
                <p:nvPr/>
              </p:nvSpPr>
              <p:spPr>
                <a:xfrm>
                  <a:off x="2107911" y="1983742"/>
                  <a:ext cx="3397539" cy="899733"/>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grpSp>
          <p:nvGrpSpPr>
            <p:cNvPr id="70" name="组合 69"/>
            <p:cNvGrpSpPr/>
            <p:nvPr/>
          </p:nvGrpSpPr>
          <p:grpSpPr>
            <a:xfrm>
              <a:off x="6508088" y="1990680"/>
              <a:ext cx="4674262" cy="1351954"/>
              <a:chOff x="831188" y="1531521"/>
              <a:chExt cx="4674262" cy="1351954"/>
            </a:xfrm>
          </p:grpSpPr>
          <p:sp>
            <p:nvSpPr>
              <p:cNvPr id="71" name="矩形: 对角圆角 70"/>
              <p:cNvSpPr/>
              <p:nvPr/>
            </p:nvSpPr>
            <p:spPr>
              <a:xfrm flipH="1">
                <a:off x="831188" y="1793550"/>
                <a:ext cx="997612" cy="82789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2" name="图形 7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1086510" y="1964014"/>
                <a:ext cx="486968" cy="486968"/>
              </a:xfrm>
              <a:prstGeom prst="rect">
                <a:avLst/>
              </a:prstGeom>
            </p:spPr>
          </p:pic>
          <p:grpSp>
            <p:nvGrpSpPr>
              <p:cNvPr id="73" name="组合 72"/>
              <p:cNvGrpSpPr/>
              <p:nvPr/>
            </p:nvGrpSpPr>
            <p:grpSpPr>
              <a:xfrm>
                <a:off x="2107911" y="1531521"/>
                <a:ext cx="3397539" cy="1351954"/>
                <a:chOff x="2107911" y="1531521"/>
                <a:chExt cx="3397539" cy="1351954"/>
              </a:xfrm>
            </p:grpSpPr>
            <p:sp>
              <p:nvSpPr>
                <p:cNvPr id="74" name="文本框 9"/>
                <p:cNvSpPr txBox="1"/>
                <p:nvPr/>
              </p:nvSpPr>
              <p:spPr>
                <a:xfrm>
                  <a:off x="2107911" y="1531521"/>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智慧养老措施</a:t>
                  </a:r>
                </a:p>
              </p:txBody>
            </p:sp>
            <p:sp>
              <p:nvSpPr>
                <p:cNvPr id="75" name="文本框 74"/>
                <p:cNvSpPr txBox="1"/>
                <p:nvPr/>
              </p:nvSpPr>
              <p:spPr>
                <a:xfrm>
                  <a:off x="2107911" y="1983742"/>
                  <a:ext cx="3397539" cy="899733"/>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grpSp>
          <p:nvGrpSpPr>
            <p:cNvPr id="76" name="组合 75"/>
            <p:cNvGrpSpPr/>
            <p:nvPr/>
          </p:nvGrpSpPr>
          <p:grpSpPr>
            <a:xfrm>
              <a:off x="6508088" y="4314780"/>
              <a:ext cx="4674262" cy="1351954"/>
              <a:chOff x="831188" y="1531521"/>
              <a:chExt cx="4674262" cy="1351954"/>
            </a:xfrm>
          </p:grpSpPr>
          <p:sp>
            <p:nvSpPr>
              <p:cNvPr id="77" name="矩形: 对角圆角 76"/>
              <p:cNvSpPr/>
              <p:nvPr/>
            </p:nvSpPr>
            <p:spPr>
              <a:xfrm>
                <a:off x="831188" y="1793550"/>
                <a:ext cx="997612" cy="82789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8" name="图形 7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086510" y="1964014"/>
                <a:ext cx="486968" cy="486968"/>
              </a:xfrm>
              <a:prstGeom prst="rect">
                <a:avLst/>
              </a:prstGeom>
            </p:spPr>
          </p:pic>
          <p:grpSp>
            <p:nvGrpSpPr>
              <p:cNvPr id="79" name="组合 78"/>
              <p:cNvGrpSpPr/>
              <p:nvPr/>
            </p:nvGrpSpPr>
            <p:grpSpPr>
              <a:xfrm>
                <a:off x="2107911" y="1531521"/>
                <a:ext cx="3397539" cy="1351954"/>
                <a:chOff x="2107911" y="1531521"/>
                <a:chExt cx="3397539" cy="1351954"/>
              </a:xfrm>
            </p:grpSpPr>
            <p:sp>
              <p:nvSpPr>
                <p:cNvPr id="80" name="文本框 9"/>
                <p:cNvSpPr txBox="1"/>
                <p:nvPr/>
              </p:nvSpPr>
              <p:spPr>
                <a:xfrm>
                  <a:off x="2107911" y="1531521"/>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智慧养老措施</a:t>
                  </a:r>
                </a:p>
              </p:txBody>
            </p:sp>
            <p:sp>
              <p:nvSpPr>
                <p:cNvPr id="81" name="文本框 80"/>
                <p:cNvSpPr txBox="1"/>
                <p:nvPr/>
              </p:nvSpPr>
              <p:spPr>
                <a:xfrm>
                  <a:off x="2107911" y="1983742"/>
                  <a:ext cx="3397539" cy="899733"/>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图片 57"/>
          <p:cNvPicPr>
            <a:picLocks noChangeAspect="1"/>
          </p:cNvPicPr>
          <p:nvPr/>
        </p:nvPicPr>
        <p:blipFill>
          <a:blip r:embed="rId2">
            <a:extLst>
              <a:ext uri="{28A0092B-C50C-407E-A947-70E740481C1C}">
                <a14:useLocalDpi xmlns:a14="http://schemas.microsoft.com/office/drawing/2010/main" val="0"/>
              </a:ext>
            </a:extLst>
          </a:blip>
          <a:srcRect l="14374" t="25407" r="14374"/>
          <a:stretch>
            <a:fillRect/>
          </a:stretch>
        </p:blipFill>
        <p:spPr>
          <a:xfrm>
            <a:off x="4467172" y="1742414"/>
            <a:ext cx="3257656" cy="5115587"/>
          </a:xfrm>
          <a:custGeom>
            <a:avLst/>
            <a:gdLst>
              <a:gd name="connsiteX0" fmla="*/ 1628828 w 3257656"/>
              <a:gd name="connsiteY0" fmla="*/ 0 h 5115587"/>
              <a:gd name="connsiteX1" fmla="*/ 3257656 w 3257656"/>
              <a:gd name="connsiteY1" fmla="*/ 1628828 h 5115587"/>
              <a:gd name="connsiteX2" fmla="*/ 3257656 w 3257656"/>
              <a:gd name="connsiteY2" fmla="*/ 5115587 h 5115587"/>
              <a:gd name="connsiteX3" fmla="*/ 0 w 3257656"/>
              <a:gd name="connsiteY3" fmla="*/ 5115587 h 5115587"/>
              <a:gd name="connsiteX4" fmla="*/ 0 w 3257656"/>
              <a:gd name="connsiteY4" fmla="*/ 1628828 h 5115587"/>
              <a:gd name="connsiteX5" fmla="*/ 1628828 w 3257656"/>
              <a:gd name="connsiteY5" fmla="*/ 0 h 511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57655" h="5115587">
                <a:moveTo>
                  <a:pt x="1628828" y="0"/>
                </a:moveTo>
                <a:cubicBezTo>
                  <a:pt x="2528405" y="0"/>
                  <a:pt x="3257656" y="729251"/>
                  <a:pt x="3257656" y="1628828"/>
                </a:cubicBezTo>
                <a:lnTo>
                  <a:pt x="3257656" y="5115587"/>
                </a:lnTo>
                <a:lnTo>
                  <a:pt x="0" y="5115587"/>
                </a:lnTo>
                <a:lnTo>
                  <a:pt x="0" y="1628828"/>
                </a:lnTo>
                <a:cubicBezTo>
                  <a:pt x="0" y="729251"/>
                  <a:pt x="729251" y="0"/>
                  <a:pt x="1628828" y="0"/>
                </a:cubicBezTo>
                <a:close/>
              </a:path>
            </a:pathLst>
          </a:custGeom>
        </p:spPr>
      </p:pic>
      <p:sp>
        <p:nvSpPr>
          <p:cNvPr id="10" name="矩形 9"/>
          <p:cNvSpPr/>
          <p:nvPr/>
        </p:nvSpPr>
        <p:spPr>
          <a:xfrm>
            <a:off x="169143" y="157442"/>
            <a:ext cx="11853714" cy="6543116"/>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nvGrpSpPr>
          <p:cNvPr id="26" name="组合 25"/>
          <p:cNvGrpSpPr/>
          <p:nvPr/>
        </p:nvGrpSpPr>
        <p:grpSpPr>
          <a:xfrm>
            <a:off x="44430" y="6425451"/>
            <a:ext cx="513631" cy="397873"/>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grpSp>
        <p:nvGrpSpPr>
          <p:cNvPr id="39" name="组合 38"/>
          <p:cNvGrpSpPr/>
          <p:nvPr/>
        </p:nvGrpSpPr>
        <p:grpSpPr>
          <a:xfrm>
            <a:off x="11616307" y="165961"/>
            <a:ext cx="513631" cy="397873"/>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grpSp>
        <p:nvGrpSpPr>
          <p:cNvPr id="4" name="组合 3"/>
          <p:cNvGrpSpPr/>
          <p:nvPr/>
        </p:nvGrpSpPr>
        <p:grpSpPr>
          <a:xfrm>
            <a:off x="301246" y="239134"/>
            <a:ext cx="267971" cy="485137"/>
            <a:chOff x="513690" y="203640"/>
            <a:chExt cx="479247" cy="867633"/>
          </a:xfrm>
        </p:grpSpPr>
        <p:sp>
          <p:nvSpPr>
            <p:cNvPr id="53" name="矩形: 对角圆角 52"/>
            <p:cNvSpPr/>
            <p:nvPr/>
          </p:nvSpPr>
          <p:spPr>
            <a:xfrm>
              <a:off x="541576" y="203640"/>
              <a:ext cx="451361" cy="374575"/>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4" name="矩形: 对角圆角 53"/>
            <p:cNvSpPr/>
            <p:nvPr/>
          </p:nvSpPr>
          <p:spPr>
            <a:xfrm flipH="1">
              <a:off x="513690" y="784342"/>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2" name="组合 1"/>
          <p:cNvGrpSpPr/>
          <p:nvPr/>
        </p:nvGrpSpPr>
        <p:grpSpPr>
          <a:xfrm>
            <a:off x="11487194" y="6169223"/>
            <a:ext cx="453850" cy="438182"/>
            <a:chOff x="5696236" y="5552082"/>
            <a:chExt cx="661068" cy="638246"/>
          </a:xfrm>
        </p:grpSpPr>
        <p:sp>
          <p:nvSpPr>
            <p:cNvPr id="55" name="矩形: 对角圆角 54"/>
            <p:cNvSpPr/>
            <p:nvPr/>
          </p:nvSpPr>
          <p:spPr>
            <a:xfrm>
              <a:off x="6014101" y="5552082"/>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11" name="组合 10"/>
          <p:cNvGrpSpPr/>
          <p:nvPr/>
        </p:nvGrpSpPr>
        <p:grpSpPr>
          <a:xfrm>
            <a:off x="287188" y="1963702"/>
            <a:ext cx="11617624" cy="4181969"/>
            <a:chOff x="208206" y="1963702"/>
            <a:chExt cx="11617624" cy="4181969"/>
          </a:xfrm>
        </p:grpSpPr>
        <p:grpSp>
          <p:nvGrpSpPr>
            <p:cNvPr id="9" name="组合 8"/>
            <p:cNvGrpSpPr/>
            <p:nvPr/>
          </p:nvGrpSpPr>
          <p:grpSpPr>
            <a:xfrm>
              <a:off x="7878169" y="1963702"/>
              <a:ext cx="3947661" cy="4181969"/>
              <a:chOff x="7811494" y="2043285"/>
              <a:chExt cx="3947661" cy="4181969"/>
            </a:xfrm>
          </p:grpSpPr>
          <p:sp>
            <p:nvSpPr>
              <p:cNvPr id="60" name="文本框 9"/>
              <p:cNvSpPr txBox="1"/>
              <p:nvPr/>
            </p:nvSpPr>
            <p:spPr>
              <a:xfrm>
                <a:off x="9061577" y="2206518"/>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A3181"/>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a:t>
                </a:r>
              </a:p>
            </p:txBody>
          </p:sp>
          <p:sp>
            <p:nvSpPr>
              <p:cNvPr id="61" name="文本框 60"/>
              <p:cNvSpPr txBox="1"/>
              <p:nvPr/>
            </p:nvSpPr>
            <p:spPr>
              <a:xfrm>
                <a:off x="7988530" y="2810921"/>
                <a:ext cx="3770625" cy="89973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rPr>
                  <a:t>Venus has a beautiful name and is the second planet from the Sun. It’s terribly hot—even hotter than Mercury—and its atmosphere</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endParaRPr>
              </a:p>
            </p:txBody>
          </p:sp>
          <p:grpSp>
            <p:nvGrpSpPr>
              <p:cNvPr id="8" name="组合 7"/>
              <p:cNvGrpSpPr/>
              <p:nvPr/>
            </p:nvGrpSpPr>
            <p:grpSpPr>
              <a:xfrm>
                <a:off x="7811494" y="2043285"/>
                <a:ext cx="1365223" cy="641858"/>
                <a:chOff x="7811494" y="2043285"/>
                <a:chExt cx="1365223" cy="641858"/>
              </a:xfrm>
            </p:grpSpPr>
            <p:sp>
              <p:nvSpPr>
                <p:cNvPr id="59" name="矩形: 对角圆角 58"/>
                <p:cNvSpPr/>
                <p:nvPr/>
              </p:nvSpPr>
              <p:spPr>
                <a:xfrm>
                  <a:off x="8107390" y="2043285"/>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62" name="文本框 9"/>
                <p:cNvSpPr txBox="1"/>
                <p:nvPr/>
              </p:nvSpPr>
              <p:spPr>
                <a:xfrm>
                  <a:off x="7811494" y="2102604"/>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03</a:t>
                  </a:r>
                  <a:endParaRPr kumimoji="0" lang="zh-CN" altLang="en-US"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sp>
            <p:nvSpPr>
              <p:cNvPr id="63" name="文本框 9"/>
              <p:cNvSpPr txBox="1"/>
              <p:nvPr/>
            </p:nvSpPr>
            <p:spPr>
              <a:xfrm>
                <a:off x="9061577" y="4721118"/>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A3181"/>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a:t>
                </a:r>
              </a:p>
            </p:txBody>
          </p:sp>
          <p:sp>
            <p:nvSpPr>
              <p:cNvPr id="64" name="文本框 63"/>
              <p:cNvSpPr txBox="1"/>
              <p:nvPr/>
            </p:nvSpPr>
            <p:spPr>
              <a:xfrm>
                <a:off x="7988530" y="5325521"/>
                <a:ext cx="3770625" cy="89973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rPr>
                  <a:t>Venus has a beautiful name and is the second planet from the Sun. It’s terribly hot—even hotter than Mercury—and its atmosphere</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endParaRPr>
              </a:p>
            </p:txBody>
          </p:sp>
          <p:grpSp>
            <p:nvGrpSpPr>
              <p:cNvPr id="65" name="组合 64"/>
              <p:cNvGrpSpPr/>
              <p:nvPr/>
            </p:nvGrpSpPr>
            <p:grpSpPr>
              <a:xfrm>
                <a:off x="7811494" y="4557885"/>
                <a:ext cx="1365223" cy="641858"/>
                <a:chOff x="7811494" y="2043285"/>
                <a:chExt cx="1365223" cy="641858"/>
              </a:xfrm>
            </p:grpSpPr>
            <p:sp>
              <p:nvSpPr>
                <p:cNvPr id="66" name="矩形: 对角圆角 65"/>
                <p:cNvSpPr/>
                <p:nvPr/>
              </p:nvSpPr>
              <p:spPr>
                <a:xfrm flipV="1">
                  <a:off x="8107390" y="2043285"/>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67" name="文本框 9"/>
                <p:cNvSpPr txBox="1"/>
                <p:nvPr/>
              </p:nvSpPr>
              <p:spPr>
                <a:xfrm>
                  <a:off x="7811494" y="2102604"/>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04</a:t>
                  </a:r>
                  <a:endParaRPr kumimoji="0" lang="zh-CN" altLang="en-US"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grpSp>
          <p:nvGrpSpPr>
            <p:cNvPr id="68" name="组合 67"/>
            <p:cNvGrpSpPr/>
            <p:nvPr/>
          </p:nvGrpSpPr>
          <p:grpSpPr>
            <a:xfrm>
              <a:off x="208206" y="1963702"/>
              <a:ext cx="4078211" cy="4181969"/>
              <a:chOff x="5098506" y="2043285"/>
              <a:chExt cx="4078211" cy="4181969"/>
            </a:xfrm>
          </p:grpSpPr>
          <p:sp>
            <p:nvSpPr>
              <p:cNvPr id="69" name="文本框 9"/>
              <p:cNvSpPr txBox="1"/>
              <p:nvPr/>
            </p:nvSpPr>
            <p:spPr>
              <a:xfrm>
                <a:off x="5396092" y="2206518"/>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A3181"/>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a:t>
                </a:r>
              </a:p>
            </p:txBody>
          </p:sp>
          <p:sp>
            <p:nvSpPr>
              <p:cNvPr id="70" name="文本框 69"/>
              <p:cNvSpPr txBox="1"/>
              <p:nvPr/>
            </p:nvSpPr>
            <p:spPr>
              <a:xfrm>
                <a:off x="5098506" y="2810921"/>
                <a:ext cx="3770625" cy="899733"/>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GB"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rPr>
                  <a:t>Venus has a beautiful name and is the second planet from the Sun. It’s terribly hot—even hotter than Mercury—and its atmosphere</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endParaRPr>
              </a:p>
            </p:txBody>
          </p:sp>
          <p:grpSp>
            <p:nvGrpSpPr>
              <p:cNvPr id="71" name="组合 70"/>
              <p:cNvGrpSpPr/>
              <p:nvPr/>
            </p:nvGrpSpPr>
            <p:grpSpPr>
              <a:xfrm>
                <a:off x="7811494" y="2043285"/>
                <a:ext cx="1365223" cy="641858"/>
                <a:chOff x="7811494" y="2043285"/>
                <a:chExt cx="1365223" cy="641858"/>
              </a:xfrm>
            </p:grpSpPr>
            <p:sp>
              <p:nvSpPr>
                <p:cNvPr id="77" name="矩形: 对角圆角 76"/>
                <p:cNvSpPr/>
                <p:nvPr/>
              </p:nvSpPr>
              <p:spPr>
                <a:xfrm flipH="1">
                  <a:off x="8107390" y="2043285"/>
                  <a:ext cx="773432" cy="641858"/>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78" name="文本框 9"/>
                <p:cNvSpPr txBox="1"/>
                <p:nvPr/>
              </p:nvSpPr>
              <p:spPr>
                <a:xfrm>
                  <a:off x="7811494" y="2102604"/>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01</a:t>
                  </a:r>
                  <a:endParaRPr kumimoji="0" lang="zh-CN" altLang="en-US"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sp>
            <p:nvSpPr>
              <p:cNvPr id="72" name="文本框 9"/>
              <p:cNvSpPr txBox="1"/>
              <p:nvPr/>
            </p:nvSpPr>
            <p:spPr>
              <a:xfrm>
                <a:off x="5396092" y="4721118"/>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A3181"/>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a:t>
                </a:r>
              </a:p>
            </p:txBody>
          </p:sp>
          <p:sp>
            <p:nvSpPr>
              <p:cNvPr id="73" name="文本框 72"/>
              <p:cNvSpPr txBox="1"/>
              <p:nvPr/>
            </p:nvSpPr>
            <p:spPr>
              <a:xfrm>
                <a:off x="5098506" y="5325521"/>
                <a:ext cx="3770625" cy="899733"/>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GB"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rPr>
                  <a:t>Venus has a beautiful name and is the second planet from the Sun. It’s terribly hot—even hotter than Mercury—and its atmosphere</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endParaRPr>
              </a:p>
            </p:txBody>
          </p:sp>
          <p:grpSp>
            <p:nvGrpSpPr>
              <p:cNvPr id="74" name="组合 73"/>
              <p:cNvGrpSpPr/>
              <p:nvPr/>
            </p:nvGrpSpPr>
            <p:grpSpPr>
              <a:xfrm>
                <a:off x="7811494" y="4557885"/>
                <a:ext cx="1365223" cy="641858"/>
                <a:chOff x="7811494" y="2043285"/>
                <a:chExt cx="1365223" cy="641858"/>
              </a:xfrm>
            </p:grpSpPr>
            <p:sp>
              <p:nvSpPr>
                <p:cNvPr id="75" name="矩形: 对角圆角 74"/>
                <p:cNvSpPr/>
                <p:nvPr/>
              </p:nvSpPr>
              <p:spPr>
                <a:xfrm flipH="1" flipV="1">
                  <a:off x="8107390" y="2043285"/>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76" name="文本框 9"/>
                <p:cNvSpPr txBox="1"/>
                <p:nvPr/>
              </p:nvSpPr>
              <p:spPr>
                <a:xfrm>
                  <a:off x="7811494" y="2102604"/>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02</a:t>
                  </a:r>
                  <a:endParaRPr kumimoji="0" lang="zh-CN" altLang="en-US" sz="2800" b="1" i="0" u="none" strike="noStrike" kern="1200" cap="none" spc="0" normalizeH="0" baseline="0" noProof="0" dirty="0">
                    <a:ln>
                      <a:noFill/>
                    </a:ln>
                    <a:solidFill>
                      <a:prstClr val="whit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grpSp>
      <p:grpSp>
        <p:nvGrpSpPr>
          <p:cNvPr id="79" name="组合 78">
            <a:extLst>
              <a:ext uri="{FF2B5EF4-FFF2-40B4-BE49-F238E27FC236}">
                <a16:creationId xmlns:a16="http://schemas.microsoft.com/office/drawing/2014/main" xmlns="" id="{BE24B33E-5BF7-4A6E-A8D8-E05F1E762638}"/>
              </a:ext>
            </a:extLst>
          </p:cNvPr>
          <p:cNvGrpSpPr/>
          <p:nvPr/>
        </p:nvGrpSpPr>
        <p:grpSpPr>
          <a:xfrm>
            <a:off x="3598856" y="383921"/>
            <a:ext cx="4994288" cy="859417"/>
            <a:chOff x="6309951" y="2453552"/>
            <a:chExt cx="4994288" cy="859417"/>
          </a:xfrm>
        </p:grpSpPr>
        <p:sp>
          <p:nvSpPr>
            <p:cNvPr id="80" name="矩形: 对角圆角 79">
              <a:extLst>
                <a:ext uri="{FF2B5EF4-FFF2-40B4-BE49-F238E27FC236}">
                  <a16:creationId xmlns:a16="http://schemas.microsoft.com/office/drawing/2014/main" xmlns="" id="{2FE05387-F0EF-40A0-8A51-61FC204FBEE4}"/>
                </a:ext>
              </a:extLst>
            </p:cNvPr>
            <p:cNvSpPr/>
            <p:nvPr/>
          </p:nvSpPr>
          <p:spPr>
            <a:xfrm>
              <a:off x="7645045" y="2453552"/>
              <a:ext cx="2324100" cy="49409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xmlns="" id="{465DE471-FDEC-4937-AAC7-C9A9F26D344F}"/>
                </a:ext>
              </a:extLst>
            </p:cNvPr>
            <p:cNvSpPr txBox="1"/>
            <p:nvPr/>
          </p:nvSpPr>
          <p:spPr>
            <a:xfrm>
              <a:off x="6435370" y="2469766"/>
              <a:ext cx="4743450" cy="461665"/>
            </a:xfrm>
            <a:prstGeom prst="rect">
              <a:avLst/>
            </a:prstGeom>
            <a:noFill/>
          </p:spPr>
          <p:txBody>
            <a:bodyPr wrap="square">
              <a:spAutoFit/>
            </a:bodyPr>
            <a:lstStyle/>
            <a:p>
              <a:pPr algn="ctr"/>
              <a:r>
                <a:rPr lang="zh-CN" altLang="en-US" sz="24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智慧养老措施</a:t>
              </a:r>
            </a:p>
          </p:txBody>
        </p:sp>
        <p:sp>
          <p:nvSpPr>
            <p:cNvPr id="82" name="文本框 81">
              <a:extLst>
                <a:ext uri="{FF2B5EF4-FFF2-40B4-BE49-F238E27FC236}">
                  <a16:creationId xmlns:a16="http://schemas.microsoft.com/office/drawing/2014/main" xmlns="" id="{C2EFA3C4-5848-4258-9EF8-A221BEAC4517}"/>
                </a:ext>
              </a:extLst>
            </p:cNvPr>
            <p:cNvSpPr txBox="1"/>
            <p:nvPr/>
          </p:nvSpPr>
          <p:spPr>
            <a:xfrm>
              <a:off x="6309951" y="2974415"/>
              <a:ext cx="4994288" cy="338554"/>
            </a:xfrm>
            <a:prstGeom prst="rect">
              <a:avLst/>
            </a:prstGeom>
            <a:noFill/>
          </p:spPr>
          <p:txBody>
            <a:bodyPr wrap="square">
              <a:spAutoFit/>
            </a:bodyPr>
            <a:lstStyle/>
            <a:p>
              <a:pPr algn="ctr"/>
              <a:r>
                <a:rPr lang="en-US" altLang="zh-CN"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Smart pension measures</a:t>
              </a:r>
              <a:endParaRPr lang="zh-CN" altLang="en-US"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spTree>
    <p:extLst>
      <p:ext uri="{BB962C8B-B14F-4D97-AF65-F5344CB8AC3E}">
        <p14:creationId xmlns:p14="http://schemas.microsoft.com/office/powerpoint/2010/main" val="126994541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76225" y="314885"/>
            <a:ext cx="11639550" cy="6228231"/>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168431" y="6075650"/>
            <a:ext cx="746290" cy="578097"/>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383649" y="165961"/>
            <a:ext cx="746290" cy="578097"/>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3" name="矩形: 对角圆角 52"/>
          <p:cNvSpPr/>
          <p:nvPr/>
        </p:nvSpPr>
        <p:spPr>
          <a:xfrm>
            <a:off x="541576" y="203640"/>
            <a:ext cx="672411" cy="55802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32031" y="1107110"/>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0870079" y="5565586"/>
            <a:ext cx="942914" cy="1041817"/>
            <a:chOff x="5696236" y="5459920"/>
            <a:chExt cx="661068" cy="730408"/>
          </a:xfrm>
        </p:grpSpPr>
        <p:sp>
          <p:nvSpPr>
            <p:cNvPr id="55" name="矩形: 对角圆角 54"/>
            <p:cNvSpPr/>
            <p:nvPr/>
          </p:nvSpPr>
          <p:spPr>
            <a:xfrm>
              <a:off x="6014101" y="5459920"/>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2419471" y="1634416"/>
            <a:ext cx="7353058" cy="3589169"/>
            <a:chOff x="2419471" y="2138652"/>
            <a:chExt cx="7353058" cy="3589169"/>
          </a:xfrm>
        </p:grpSpPr>
        <p:sp>
          <p:nvSpPr>
            <p:cNvPr id="15" name="矩形: 圆角 14"/>
            <p:cNvSpPr/>
            <p:nvPr/>
          </p:nvSpPr>
          <p:spPr>
            <a:xfrm>
              <a:off x="5129151" y="2152995"/>
              <a:ext cx="1933698" cy="494535"/>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2419471" y="3005645"/>
              <a:ext cx="7353058" cy="2722176"/>
              <a:chOff x="5130566" y="2399245"/>
              <a:chExt cx="7353058" cy="2722176"/>
            </a:xfrm>
          </p:grpSpPr>
          <p:sp>
            <p:nvSpPr>
              <p:cNvPr id="12" name="矩形: 对角圆角 11"/>
              <p:cNvSpPr/>
              <p:nvPr/>
            </p:nvSpPr>
            <p:spPr>
              <a:xfrm>
                <a:off x="5998951" y="2399245"/>
                <a:ext cx="5616289" cy="106020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5819705" y="4221688"/>
                <a:ext cx="5974780" cy="899733"/>
              </a:xfrm>
              <a:prstGeom prst="rect">
                <a:avLst/>
              </a:prstGeom>
              <a:noFill/>
            </p:spPr>
            <p:txBody>
              <a:bodyPr wrap="square">
                <a:spAutoFit/>
              </a:bodyPr>
              <a:lstStyle/>
              <a:p>
                <a:pPr algn="ctr">
                  <a:lnSpc>
                    <a:spcPct val="150000"/>
                  </a:lnSpc>
                  <a:spcBef>
                    <a:spcPts val="800"/>
                  </a:spcBef>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OPPOSans R" panose="00020600040101010101" pitchFamily="18" charset="-122"/>
                    <a:sym typeface="汉仪旗黑X1-55W" panose="00020600040101010101" pitchFamily="18" charset="-122"/>
                  </a:rPr>
                  <a:t>It could be the part of the presentation where you can introduce your company or agency. It could be the part of the presentation where you can introduce your company or agency. </a:t>
                </a:r>
              </a:p>
            </p:txBody>
          </p:sp>
          <p:sp>
            <p:nvSpPr>
              <p:cNvPr id="21" name="文本框 20"/>
              <p:cNvSpPr txBox="1"/>
              <p:nvPr/>
            </p:nvSpPr>
            <p:spPr>
              <a:xfrm>
                <a:off x="5315220" y="2505780"/>
                <a:ext cx="6983750" cy="923330"/>
              </a:xfrm>
              <a:prstGeom prst="rect">
                <a:avLst/>
              </a:prstGeom>
              <a:noFill/>
            </p:spPr>
            <p:txBody>
              <a:bodyPr wrap="square">
                <a:spAutoFit/>
              </a:bodyPr>
              <a:lstStyle/>
              <a:p>
                <a:pPr algn="ctr"/>
                <a:r>
                  <a:rPr lang="zh-CN" altLang="en-US" sz="54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cxnSp>
            <p:nvCxnSpPr>
              <p:cNvPr id="24" name="直接连接符 23"/>
              <p:cNvCxnSpPr/>
              <p:nvPr/>
            </p:nvCxnSpPr>
            <p:spPr>
              <a:xfrm>
                <a:off x="6035329" y="4092920"/>
                <a:ext cx="5543533" cy="0"/>
              </a:xfrm>
              <a:prstGeom prst="line">
                <a:avLst/>
              </a:prstGeom>
              <a:ln w="12700">
                <a:solidFill>
                  <a:srgbClr val="0A3181"/>
                </a:solidFill>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5130566" y="3474265"/>
                <a:ext cx="7353058" cy="584775"/>
              </a:xfrm>
              <a:prstGeom prst="rect">
                <a:avLst/>
              </a:prstGeom>
              <a:noFill/>
            </p:spPr>
            <p:txBody>
              <a:bodyPr wrap="square">
                <a:spAutoFit/>
              </a:bodyPr>
              <a:lstStyle/>
              <a:p>
                <a:pPr algn="ctr"/>
                <a:r>
                  <a:rPr lang="en-US" altLang="zh-CN" sz="32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Future pension model</a:t>
                </a:r>
                <a:endParaRPr lang="zh-CN" altLang="en-US" sz="32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sp>
          <p:nvSpPr>
            <p:cNvPr id="58" name="文本框 57"/>
            <p:cNvSpPr txBox="1"/>
            <p:nvPr/>
          </p:nvSpPr>
          <p:spPr>
            <a:xfrm>
              <a:off x="4209965" y="2138652"/>
              <a:ext cx="3772070" cy="523220"/>
            </a:xfrm>
            <a:prstGeom prst="rect">
              <a:avLst/>
            </a:prstGeom>
            <a:noFill/>
          </p:spPr>
          <p:txBody>
            <a:bodyPr wrap="square">
              <a:spAutoFit/>
            </a:bodyPr>
            <a:lstStyle/>
            <a:p>
              <a:pPr algn="ctr" rtl="0"/>
              <a:r>
                <a:rPr lang="en-US" altLang="zh-CN" sz="2800" b="1" i="0" dirty="0">
                  <a:solidFill>
                    <a:schemeClr val="bg1"/>
                  </a:solidFill>
                  <a:effectLst/>
                  <a:latin typeface="思源宋体 CN Heavy" pitchFamily="18" charset="-122"/>
                  <a:ea typeface="思源宋体 CN Heavy" pitchFamily="18" charset="-122"/>
                  <a:sym typeface="汉仪中宋S" panose="00020600040101010101" pitchFamily="18" charset="-122"/>
                </a:rPr>
                <a:t>Part 04</a:t>
              </a:r>
            </a:p>
          </p:txBody>
        </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69143" y="157442"/>
            <a:ext cx="11853714" cy="6543116"/>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4430" y="6425451"/>
            <a:ext cx="513631" cy="397873"/>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616307" y="165961"/>
            <a:ext cx="513631" cy="397873"/>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 name="组合 3"/>
          <p:cNvGrpSpPr/>
          <p:nvPr/>
        </p:nvGrpSpPr>
        <p:grpSpPr>
          <a:xfrm>
            <a:off x="301246" y="239134"/>
            <a:ext cx="267971" cy="485137"/>
            <a:chOff x="513690" y="203640"/>
            <a:chExt cx="479247" cy="867633"/>
          </a:xfrm>
        </p:grpSpPr>
        <p:sp>
          <p:nvSpPr>
            <p:cNvPr id="53" name="矩形: 对角圆角 52"/>
            <p:cNvSpPr/>
            <p:nvPr/>
          </p:nvSpPr>
          <p:spPr>
            <a:xfrm>
              <a:off x="541576" y="203640"/>
              <a:ext cx="451361" cy="374575"/>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13690" y="784342"/>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1487194" y="6169223"/>
            <a:ext cx="453850" cy="438182"/>
            <a:chOff x="5696236" y="5552082"/>
            <a:chExt cx="661068" cy="638246"/>
          </a:xfrm>
        </p:grpSpPr>
        <p:sp>
          <p:nvSpPr>
            <p:cNvPr id="55" name="矩形: 对角圆角 54"/>
            <p:cNvSpPr/>
            <p:nvPr/>
          </p:nvSpPr>
          <p:spPr>
            <a:xfrm>
              <a:off x="6014101" y="5552082"/>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5384546" y="718755"/>
            <a:ext cx="4994288" cy="859417"/>
            <a:chOff x="6309951" y="2453552"/>
            <a:chExt cx="4994288" cy="859417"/>
          </a:xfrm>
        </p:grpSpPr>
        <p:sp>
          <p:nvSpPr>
            <p:cNvPr id="12" name="矩形: 对角圆角 11"/>
            <p:cNvSpPr/>
            <p:nvPr/>
          </p:nvSpPr>
          <p:spPr>
            <a:xfrm>
              <a:off x="7645045" y="2453552"/>
              <a:ext cx="2324100" cy="49409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435370" y="2469766"/>
              <a:ext cx="4743450" cy="461665"/>
            </a:xfrm>
            <a:prstGeom prst="rect">
              <a:avLst/>
            </a:prstGeom>
            <a:noFill/>
          </p:spPr>
          <p:txBody>
            <a:bodyPr wrap="square">
              <a:spAutoFit/>
            </a:bodyPr>
            <a:lstStyle/>
            <a:p>
              <a:pPr algn="ctr"/>
              <a:r>
                <a:rPr lang="zh-CN" altLang="en-US" sz="24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57" name="文本框 56"/>
            <p:cNvSpPr txBox="1"/>
            <p:nvPr/>
          </p:nvSpPr>
          <p:spPr>
            <a:xfrm>
              <a:off x="6309951" y="2974415"/>
              <a:ext cx="4994288" cy="338554"/>
            </a:xfrm>
            <a:prstGeom prst="rect">
              <a:avLst/>
            </a:prstGeom>
            <a:noFill/>
          </p:spPr>
          <p:txBody>
            <a:bodyPr wrap="square">
              <a:spAutoFit/>
            </a:bodyPr>
            <a:lstStyle/>
            <a:p>
              <a:pPr algn="ctr"/>
              <a:r>
                <a:rPr lang="en-US" altLang="zh-CN"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Future pension model</a:t>
              </a:r>
              <a:endParaRPr lang="zh-CN" altLang="en-US"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grpSp>
        <p:nvGrpSpPr>
          <p:cNvPr id="7" name="组合 6"/>
          <p:cNvGrpSpPr/>
          <p:nvPr/>
        </p:nvGrpSpPr>
        <p:grpSpPr>
          <a:xfrm>
            <a:off x="4276186" y="3468270"/>
            <a:ext cx="7211008" cy="2263605"/>
            <a:chOff x="4476420" y="2787871"/>
            <a:chExt cx="7211008" cy="2263605"/>
          </a:xfrm>
        </p:grpSpPr>
        <p:grpSp>
          <p:nvGrpSpPr>
            <p:cNvPr id="5" name="组合 4"/>
            <p:cNvGrpSpPr/>
            <p:nvPr/>
          </p:nvGrpSpPr>
          <p:grpSpPr>
            <a:xfrm>
              <a:off x="4476420" y="2787871"/>
              <a:ext cx="2543428" cy="2263605"/>
              <a:chOff x="749342" y="2698279"/>
              <a:chExt cx="2543428" cy="2263605"/>
            </a:xfrm>
          </p:grpSpPr>
          <p:sp>
            <p:nvSpPr>
              <p:cNvPr id="52" name="矩形: 对角圆角 51"/>
              <p:cNvSpPr/>
              <p:nvPr/>
            </p:nvSpPr>
            <p:spPr>
              <a:xfrm>
                <a:off x="1608020" y="2698279"/>
                <a:ext cx="826072" cy="68554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9"/>
              <p:cNvSpPr txBox="1"/>
              <p:nvPr/>
            </p:nvSpPr>
            <p:spPr>
              <a:xfrm>
                <a:off x="749342" y="3609930"/>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59" name="文本框 58"/>
              <p:cNvSpPr txBox="1"/>
              <p:nvPr/>
            </p:nvSpPr>
            <p:spPr>
              <a:xfrm>
                <a:off x="949576" y="4062151"/>
                <a:ext cx="2142960" cy="899733"/>
              </a:xfrm>
              <a:prstGeom prst="rect">
                <a:avLst/>
              </a:prstGeom>
              <a:noFill/>
            </p:spPr>
            <p:txBody>
              <a:bodyPr wrap="square">
                <a:spAutoFit/>
              </a:bodyPr>
              <a:lstStyle/>
              <a:p>
                <a:pPr algn="ct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sp>
            <p:nvSpPr>
              <p:cNvPr id="60" name="文本框 9"/>
              <p:cNvSpPr txBox="1"/>
              <p:nvPr/>
            </p:nvSpPr>
            <p:spPr>
              <a:xfrm>
                <a:off x="1317962" y="2748662"/>
                <a:ext cx="140618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32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01</a:t>
                </a:r>
                <a:endParaRPr lang="zh-CN" altLang="en-US" sz="32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nvGrpSpPr>
            <p:cNvPr id="61" name="组合 60"/>
            <p:cNvGrpSpPr/>
            <p:nvPr/>
          </p:nvGrpSpPr>
          <p:grpSpPr>
            <a:xfrm>
              <a:off x="6810210" y="2787871"/>
              <a:ext cx="2543428" cy="2263605"/>
              <a:chOff x="749342" y="2698279"/>
              <a:chExt cx="2543428" cy="2263605"/>
            </a:xfrm>
          </p:grpSpPr>
          <p:sp>
            <p:nvSpPr>
              <p:cNvPr id="62" name="矩形: 对角圆角 61"/>
              <p:cNvSpPr/>
              <p:nvPr/>
            </p:nvSpPr>
            <p:spPr>
              <a:xfrm>
                <a:off x="1608020" y="2698279"/>
                <a:ext cx="826072" cy="685540"/>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9"/>
              <p:cNvSpPr txBox="1"/>
              <p:nvPr/>
            </p:nvSpPr>
            <p:spPr>
              <a:xfrm>
                <a:off x="749342" y="3609930"/>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64" name="文本框 63"/>
              <p:cNvSpPr txBox="1"/>
              <p:nvPr/>
            </p:nvSpPr>
            <p:spPr>
              <a:xfrm>
                <a:off x="949576" y="4062151"/>
                <a:ext cx="2142960" cy="899733"/>
              </a:xfrm>
              <a:prstGeom prst="rect">
                <a:avLst/>
              </a:prstGeom>
              <a:noFill/>
            </p:spPr>
            <p:txBody>
              <a:bodyPr wrap="square">
                <a:spAutoFit/>
              </a:bodyPr>
              <a:lstStyle/>
              <a:p>
                <a:pPr algn="ct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sp>
            <p:nvSpPr>
              <p:cNvPr id="65" name="文本框 9"/>
              <p:cNvSpPr txBox="1"/>
              <p:nvPr/>
            </p:nvSpPr>
            <p:spPr>
              <a:xfrm>
                <a:off x="1317962" y="2748662"/>
                <a:ext cx="140618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32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02</a:t>
                </a:r>
                <a:endParaRPr lang="zh-CN" altLang="en-US" sz="32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nvGrpSpPr>
            <p:cNvPr id="66" name="组合 65"/>
            <p:cNvGrpSpPr/>
            <p:nvPr/>
          </p:nvGrpSpPr>
          <p:grpSpPr>
            <a:xfrm>
              <a:off x="9144000" y="2787871"/>
              <a:ext cx="2543428" cy="2263605"/>
              <a:chOff x="749342" y="2698279"/>
              <a:chExt cx="2543428" cy="2263605"/>
            </a:xfrm>
          </p:grpSpPr>
          <p:sp>
            <p:nvSpPr>
              <p:cNvPr id="67" name="矩形: 对角圆角 66"/>
              <p:cNvSpPr/>
              <p:nvPr/>
            </p:nvSpPr>
            <p:spPr>
              <a:xfrm>
                <a:off x="1608020" y="2698279"/>
                <a:ext cx="826072" cy="68554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9"/>
              <p:cNvSpPr txBox="1"/>
              <p:nvPr/>
            </p:nvSpPr>
            <p:spPr>
              <a:xfrm>
                <a:off x="749342" y="3609930"/>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69" name="文本框 68"/>
              <p:cNvSpPr txBox="1"/>
              <p:nvPr/>
            </p:nvSpPr>
            <p:spPr>
              <a:xfrm>
                <a:off x="949576" y="4062151"/>
                <a:ext cx="2142960" cy="899733"/>
              </a:xfrm>
              <a:prstGeom prst="rect">
                <a:avLst/>
              </a:prstGeom>
              <a:noFill/>
            </p:spPr>
            <p:txBody>
              <a:bodyPr wrap="square">
                <a:spAutoFit/>
              </a:bodyPr>
              <a:lstStyle/>
              <a:p>
                <a:pPr algn="ct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sp>
            <p:nvSpPr>
              <p:cNvPr id="70" name="文本框 9"/>
              <p:cNvSpPr txBox="1"/>
              <p:nvPr/>
            </p:nvSpPr>
            <p:spPr>
              <a:xfrm>
                <a:off x="1317962" y="2748662"/>
                <a:ext cx="140618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32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03</a:t>
                </a:r>
                <a:endParaRPr lang="zh-CN" altLang="en-US" sz="32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pic>
        <p:nvPicPr>
          <p:cNvPr id="2050" name="Picture 2" descr="Elderly Couple Walking With Holding Hands On Sidewalk"/>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3578" y="878014"/>
            <a:ext cx="3674287" cy="5511430"/>
          </a:xfrm>
          <a:prstGeom prst="round2DiagRect">
            <a:avLst>
              <a:gd name="adj1" fmla="val 30834"/>
              <a:gd name="adj2" fmla="val 0"/>
            </a:avLst>
          </a:prstGeom>
          <a:noFill/>
          <a:extLst>
            <a:ext uri="{909E8E84-426E-40DD-AFC4-6F175D3DCCD1}">
              <a14:hiddenFill xmlns:a14="http://schemas.microsoft.com/office/drawing/2010/main">
                <a:solidFill>
                  <a:srgbClr val="FFFFFF"/>
                </a:solidFill>
              </a14:hiddenFill>
            </a:ext>
          </a:extLst>
        </p:spPr>
      </p:pic>
      <p:sp>
        <p:nvSpPr>
          <p:cNvPr id="71" name="文本框 70"/>
          <p:cNvSpPr txBox="1"/>
          <p:nvPr/>
        </p:nvSpPr>
        <p:spPr>
          <a:xfrm>
            <a:off x="4991522" y="1942943"/>
            <a:ext cx="5780336" cy="899733"/>
          </a:xfrm>
          <a:prstGeom prst="rect">
            <a:avLst/>
          </a:prstGeom>
          <a:noFill/>
        </p:spPr>
        <p:txBody>
          <a:bodyPr wrap="square">
            <a:spAutoFit/>
          </a:bodyPr>
          <a:lstStyle/>
          <a:p>
            <a:pPr algn="ctr">
              <a:lnSpc>
                <a:spcPct val="150000"/>
              </a:lnSpc>
            </a:pPr>
            <a:r>
              <a:rPr lang="en-GB" altLang="zh-CN" sz="1200" dirty="0">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Mercury—and its atmosphere is extremely poisonous. Venus has a beautiful</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69143" y="157442"/>
            <a:ext cx="11853714" cy="6543116"/>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4430" y="6425451"/>
            <a:ext cx="513631" cy="397873"/>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616307" y="165961"/>
            <a:ext cx="513631" cy="397873"/>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 name="组合 3"/>
          <p:cNvGrpSpPr/>
          <p:nvPr/>
        </p:nvGrpSpPr>
        <p:grpSpPr>
          <a:xfrm>
            <a:off x="301246" y="239134"/>
            <a:ext cx="267971" cy="485137"/>
            <a:chOff x="513690" y="203640"/>
            <a:chExt cx="479247" cy="867633"/>
          </a:xfrm>
        </p:grpSpPr>
        <p:sp>
          <p:nvSpPr>
            <p:cNvPr id="53" name="矩形: 对角圆角 52"/>
            <p:cNvSpPr/>
            <p:nvPr/>
          </p:nvSpPr>
          <p:spPr>
            <a:xfrm>
              <a:off x="541576" y="203640"/>
              <a:ext cx="451361" cy="374575"/>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13690" y="784342"/>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1487194" y="6169223"/>
            <a:ext cx="453850" cy="438182"/>
            <a:chOff x="5696236" y="5552082"/>
            <a:chExt cx="661068" cy="638246"/>
          </a:xfrm>
        </p:grpSpPr>
        <p:sp>
          <p:nvSpPr>
            <p:cNvPr id="55" name="矩形: 对角圆角 54"/>
            <p:cNvSpPr/>
            <p:nvPr/>
          </p:nvSpPr>
          <p:spPr>
            <a:xfrm>
              <a:off x="6014101" y="5552082"/>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3598856" y="383921"/>
            <a:ext cx="4994288" cy="859417"/>
            <a:chOff x="6309951" y="2453552"/>
            <a:chExt cx="4994288" cy="859417"/>
          </a:xfrm>
        </p:grpSpPr>
        <p:sp>
          <p:nvSpPr>
            <p:cNvPr id="12" name="矩形: 对角圆角 11"/>
            <p:cNvSpPr/>
            <p:nvPr/>
          </p:nvSpPr>
          <p:spPr>
            <a:xfrm>
              <a:off x="7645045" y="2453552"/>
              <a:ext cx="2324100" cy="49409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435370" y="2469766"/>
              <a:ext cx="4743450" cy="461665"/>
            </a:xfrm>
            <a:prstGeom prst="rect">
              <a:avLst/>
            </a:prstGeom>
            <a:noFill/>
          </p:spPr>
          <p:txBody>
            <a:bodyPr wrap="square">
              <a:spAutoFit/>
            </a:bodyPr>
            <a:lstStyle/>
            <a:p>
              <a:pPr algn="ctr"/>
              <a:r>
                <a:rPr lang="zh-CN" altLang="en-US" sz="24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57" name="文本框 56"/>
            <p:cNvSpPr txBox="1"/>
            <p:nvPr/>
          </p:nvSpPr>
          <p:spPr>
            <a:xfrm>
              <a:off x="6309951" y="2974415"/>
              <a:ext cx="4994288" cy="338554"/>
            </a:xfrm>
            <a:prstGeom prst="rect">
              <a:avLst/>
            </a:prstGeom>
            <a:noFill/>
          </p:spPr>
          <p:txBody>
            <a:bodyPr wrap="square">
              <a:spAutoFit/>
            </a:bodyPr>
            <a:lstStyle/>
            <a:p>
              <a:pPr algn="ctr"/>
              <a:r>
                <a:rPr lang="en-US" altLang="zh-CN"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Future pension model</a:t>
              </a:r>
              <a:endParaRPr lang="zh-CN" altLang="en-US"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grpSp>
        <p:nvGrpSpPr>
          <p:cNvPr id="9" name="组合 8"/>
          <p:cNvGrpSpPr/>
          <p:nvPr/>
        </p:nvGrpSpPr>
        <p:grpSpPr>
          <a:xfrm>
            <a:off x="4381448" y="2481536"/>
            <a:ext cx="3429105" cy="2476500"/>
            <a:chOff x="4381448" y="2190750"/>
            <a:chExt cx="3429105" cy="2476500"/>
          </a:xfrm>
        </p:grpSpPr>
        <p:sp>
          <p:nvSpPr>
            <p:cNvPr id="5" name="椭圆 4"/>
            <p:cNvSpPr/>
            <p:nvPr/>
          </p:nvSpPr>
          <p:spPr>
            <a:xfrm>
              <a:off x="4857750" y="2190750"/>
              <a:ext cx="2476500" cy="2476500"/>
            </a:xfrm>
            <a:prstGeom prst="ellipse">
              <a:avLst/>
            </a:prstGeom>
            <a:noFill/>
            <a:ln w="19050">
              <a:solidFill>
                <a:srgbClr val="086D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5019675" y="2352675"/>
              <a:ext cx="2152650" cy="2152650"/>
            </a:xfrm>
            <a:prstGeom prst="ellipse">
              <a:avLst/>
            </a:prstGeom>
            <a:noFill/>
            <a:ln w="38100">
              <a:solidFill>
                <a:srgbClr val="FFB3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4381448" y="2279396"/>
              <a:ext cx="3429105" cy="2299208"/>
              <a:chOff x="4400655" y="2368989"/>
              <a:chExt cx="3429105" cy="2299208"/>
            </a:xfrm>
          </p:grpSpPr>
          <p:grpSp>
            <p:nvGrpSpPr>
              <p:cNvPr id="6" name="组合 5"/>
              <p:cNvGrpSpPr/>
              <p:nvPr/>
            </p:nvGrpSpPr>
            <p:grpSpPr>
              <a:xfrm>
                <a:off x="4400655" y="2368989"/>
                <a:ext cx="1365223" cy="641858"/>
                <a:chOff x="4400655" y="2368989"/>
                <a:chExt cx="1365223" cy="641858"/>
              </a:xfrm>
            </p:grpSpPr>
            <p:sp>
              <p:nvSpPr>
                <p:cNvPr id="60" name="矩形: 对角圆角 59"/>
                <p:cNvSpPr/>
                <p:nvPr/>
              </p:nvSpPr>
              <p:spPr>
                <a:xfrm flipH="1">
                  <a:off x="4696551" y="2368989"/>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9"/>
                <p:cNvSpPr txBox="1"/>
                <p:nvPr/>
              </p:nvSpPr>
              <p:spPr>
                <a:xfrm>
                  <a:off x="4400655" y="2428308"/>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01</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nvGrpSpPr>
              <p:cNvPr id="63" name="组合 62"/>
              <p:cNvGrpSpPr/>
              <p:nvPr/>
            </p:nvGrpSpPr>
            <p:grpSpPr>
              <a:xfrm>
                <a:off x="4400655" y="4026339"/>
                <a:ext cx="1365223" cy="641858"/>
                <a:chOff x="4400655" y="2368989"/>
                <a:chExt cx="1365223" cy="641858"/>
              </a:xfrm>
            </p:grpSpPr>
            <p:sp>
              <p:nvSpPr>
                <p:cNvPr id="64" name="矩形: 对角圆角 63"/>
                <p:cNvSpPr/>
                <p:nvPr/>
              </p:nvSpPr>
              <p:spPr>
                <a:xfrm>
                  <a:off x="4696551" y="2368989"/>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9"/>
                <p:cNvSpPr txBox="1"/>
                <p:nvPr/>
              </p:nvSpPr>
              <p:spPr>
                <a:xfrm>
                  <a:off x="4400655" y="2428308"/>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02</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nvGrpSpPr>
              <p:cNvPr id="7" name="组合 6"/>
              <p:cNvGrpSpPr/>
              <p:nvPr/>
            </p:nvGrpSpPr>
            <p:grpSpPr>
              <a:xfrm>
                <a:off x="6464537" y="2368989"/>
                <a:ext cx="1365223" cy="2299208"/>
                <a:chOff x="6534255" y="2368989"/>
                <a:chExt cx="1365223" cy="2299208"/>
              </a:xfrm>
            </p:grpSpPr>
            <p:grpSp>
              <p:nvGrpSpPr>
                <p:cNvPr id="68" name="组合 67"/>
                <p:cNvGrpSpPr/>
                <p:nvPr/>
              </p:nvGrpSpPr>
              <p:grpSpPr>
                <a:xfrm>
                  <a:off x="6534255" y="2368989"/>
                  <a:ext cx="1365223" cy="641858"/>
                  <a:chOff x="4400655" y="2368989"/>
                  <a:chExt cx="1365223" cy="641858"/>
                </a:xfrm>
              </p:grpSpPr>
              <p:sp>
                <p:nvSpPr>
                  <p:cNvPr id="69" name="矩形: 对角圆角 68"/>
                  <p:cNvSpPr/>
                  <p:nvPr/>
                </p:nvSpPr>
                <p:spPr>
                  <a:xfrm>
                    <a:off x="4696551" y="2368989"/>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9"/>
                  <p:cNvSpPr txBox="1"/>
                  <p:nvPr/>
                </p:nvSpPr>
                <p:spPr>
                  <a:xfrm>
                    <a:off x="4400655" y="2428308"/>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03</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nvGrpSpPr>
                <p:cNvPr id="71" name="组合 70"/>
                <p:cNvGrpSpPr/>
                <p:nvPr/>
              </p:nvGrpSpPr>
              <p:grpSpPr>
                <a:xfrm>
                  <a:off x="6534255" y="4026339"/>
                  <a:ext cx="1365223" cy="641858"/>
                  <a:chOff x="4400655" y="2368989"/>
                  <a:chExt cx="1365223" cy="641858"/>
                </a:xfrm>
              </p:grpSpPr>
              <p:sp>
                <p:nvSpPr>
                  <p:cNvPr id="72" name="矩形: 对角圆角 71"/>
                  <p:cNvSpPr/>
                  <p:nvPr/>
                </p:nvSpPr>
                <p:spPr>
                  <a:xfrm flipH="1">
                    <a:off x="4696551" y="2368989"/>
                    <a:ext cx="773432" cy="641858"/>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9"/>
                  <p:cNvSpPr txBox="1"/>
                  <p:nvPr/>
                </p:nvSpPr>
                <p:spPr>
                  <a:xfrm>
                    <a:off x="4400655" y="2428308"/>
                    <a:ext cx="1365223"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04</a:t>
                    </a:r>
                    <a:endPar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endParaRPr>
                  </a:p>
                </p:txBody>
              </p:sp>
            </p:grpSp>
          </p:grpSp>
        </p:grpSp>
      </p:grpSp>
      <p:sp>
        <p:nvSpPr>
          <p:cNvPr id="58" name="文本框 9"/>
          <p:cNvSpPr txBox="1"/>
          <p:nvPr/>
        </p:nvSpPr>
        <p:spPr>
          <a:xfrm>
            <a:off x="1757976" y="1976087"/>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59" name="文本框 58"/>
          <p:cNvSpPr txBox="1"/>
          <p:nvPr/>
        </p:nvSpPr>
        <p:spPr>
          <a:xfrm>
            <a:off x="815149" y="2428308"/>
            <a:ext cx="3486255" cy="899733"/>
          </a:xfrm>
          <a:prstGeom prst="rect">
            <a:avLst/>
          </a:prstGeom>
          <a:noFill/>
        </p:spPr>
        <p:txBody>
          <a:bodyPr wrap="square">
            <a:spAutoFit/>
          </a:bodyPr>
          <a:lstStyle/>
          <a:p>
            <a:pPr algn="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sp>
        <p:nvSpPr>
          <p:cNvPr id="66" name="文本框 9"/>
          <p:cNvSpPr txBox="1"/>
          <p:nvPr/>
        </p:nvSpPr>
        <p:spPr>
          <a:xfrm>
            <a:off x="1757976" y="4223987"/>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67" name="文本框 66"/>
          <p:cNvSpPr txBox="1"/>
          <p:nvPr/>
        </p:nvSpPr>
        <p:spPr>
          <a:xfrm>
            <a:off x="815149" y="4676208"/>
            <a:ext cx="3486255" cy="899733"/>
          </a:xfrm>
          <a:prstGeom prst="rect">
            <a:avLst/>
          </a:prstGeom>
          <a:noFill/>
        </p:spPr>
        <p:txBody>
          <a:bodyPr wrap="square">
            <a:spAutoFit/>
          </a:bodyPr>
          <a:lstStyle/>
          <a:p>
            <a:pPr algn="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sp>
        <p:nvSpPr>
          <p:cNvPr id="74" name="文本框 9"/>
          <p:cNvSpPr txBox="1"/>
          <p:nvPr/>
        </p:nvSpPr>
        <p:spPr>
          <a:xfrm>
            <a:off x="7890597" y="1976087"/>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75" name="文本框 74"/>
          <p:cNvSpPr txBox="1"/>
          <p:nvPr/>
        </p:nvSpPr>
        <p:spPr>
          <a:xfrm>
            <a:off x="7890597" y="2428308"/>
            <a:ext cx="3486255" cy="899733"/>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sp>
        <p:nvSpPr>
          <p:cNvPr id="76" name="文本框 9"/>
          <p:cNvSpPr txBox="1"/>
          <p:nvPr/>
        </p:nvSpPr>
        <p:spPr>
          <a:xfrm>
            <a:off x="7890597" y="4223987"/>
            <a:ext cx="2543428"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0A318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77" name="文本框 76"/>
          <p:cNvSpPr txBox="1"/>
          <p:nvPr/>
        </p:nvSpPr>
        <p:spPr>
          <a:xfrm>
            <a:off x="7890597" y="4676208"/>
            <a:ext cx="3486255" cy="899733"/>
          </a:xfrm>
          <a:prstGeom prst="rect">
            <a:avLst/>
          </a:prstGeom>
          <a:noFill/>
        </p:spPr>
        <p:txBody>
          <a:bodyPr wrap="square">
            <a:spAutoFit/>
          </a:bodyPr>
          <a:lstStyle/>
          <a:p>
            <a:pP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图片 59"/>
          <p:cNvPicPr>
            <a:picLocks noChangeAspect="1"/>
          </p:cNvPicPr>
          <p:nvPr/>
        </p:nvPicPr>
        <p:blipFill>
          <a:blip r:embed="rId2">
            <a:extLst>
              <a:ext uri="{28A0092B-C50C-407E-A947-70E740481C1C}">
                <a14:useLocalDpi xmlns:a14="http://schemas.microsoft.com/office/drawing/2010/main" val="0"/>
              </a:ext>
            </a:extLst>
          </a:blip>
          <a:srcRect l="15567" r="631"/>
          <a:stretch>
            <a:fillRect/>
          </a:stretch>
        </p:blipFill>
        <p:spPr>
          <a:xfrm>
            <a:off x="153491" y="1821448"/>
            <a:ext cx="4932859" cy="3924246"/>
          </a:xfrm>
          <a:custGeom>
            <a:avLst/>
            <a:gdLst>
              <a:gd name="connsiteX0" fmla="*/ 0 w 9085006"/>
              <a:gd name="connsiteY0" fmla="*/ 0 h 6857999"/>
              <a:gd name="connsiteX1" fmla="*/ 5656005 w 9085006"/>
              <a:gd name="connsiteY1" fmla="*/ 0 h 6857999"/>
              <a:gd name="connsiteX2" fmla="*/ 9085006 w 9085006"/>
              <a:gd name="connsiteY2" fmla="*/ 3429001 h 6857999"/>
              <a:gd name="connsiteX3" fmla="*/ 5832461 w 9085006"/>
              <a:gd name="connsiteY3" fmla="*/ 6853540 h 6857999"/>
              <a:gd name="connsiteX4" fmla="*/ 5656127 w 9085006"/>
              <a:gd name="connsiteY4" fmla="*/ 6857999 h 6857999"/>
              <a:gd name="connsiteX5" fmla="*/ 0 w 9085006"/>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5006" h="6857999">
                <a:moveTo>
                  <a:pt x="0" y="0"/>
                </a:moveTo>
                <a:lnTo>
                  <a:pt x="5656005" y="0"/>
                </a:lnTo>
                <a:cubicBezTo>
                  <a:pt x="7549790" y="0"/>
                  <a:pt x="9085006" y="1535216"/>
                  <a:pt x="9085006" y="3429001"/>
                </a:cubicBezTo>
                <a:cubicBezTo>
                  <a:pt x="9085006" y="5263605"/>
                  <a:pt x="7644242" y="6761701"/>
                  <a:pt x="5832461" y="6853540"/>
                </a:cubicBezTo>
                <a:lnTo>
                  <a:pt x="5656127" y="6857999"/>
                </a:lnTo>
                <a:lnTo>
                  <a:pt x="0" y="6857999"/>
                </a:lnTo>
                <a:close/>
              </a:path>
            </a:pathLst>
          </a:custGeom>
        </p:spPr>
      </p:pic>
      <p:sp>
        <p:nvSpPr>
          <p:cNvPr id="10" name="矩形 9"/>
          <p:cNvSpPr/>
          <p:nvPr/>
        </p:nvSpPr>
        <p:spPr>
          <a:xfrm>
            <a:off x="169143" y="157442"/>
            <a:ext cx="11853714" cy="6543116"/>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nvGrpSpPr>
          <p:cNvPr id="26" name="组合 25"/>
          <p:cNvGrpSpPr/>
          <p:nvPr/>
        </p:nvGrpSpPr>
        <p:grpSpPr>
          <a:xfrm>
            <a:off x="44430" y="6425451"/>
            <a:ext cx="513631" cy="397873"/>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grpSp>
        <p:nvGrpSpPr>
          <p:cNvPr id="39" name="组合 38"/>
          <p:cNvGrpSpPr/>
          <p:nvPr/>
        </p:nvGrpSpPr>
        <p:grpSpPr>
          <a:xfrm>
            <a:off x="11616307" y="165961"/>
            <a:ext cx="513631" cy="397873"/>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grpSp>
        <p:nvGrpSpPr>
          <p:cNvPr id="4" name="组合 3"/>
          <p:cNvGrpSpPr/>
          <p:nvPr/>
        </p:nvGrpSpPr>
        <p:grpSpPr>
          <a:xfrm>
            <a:off x="301246" y="239134"/>
            <a:ext cx="267971" cy="485137"/>
            <a:chOff x="513690" y="203640"/>
            <a:chExt cx="479247" cy="867633"/>
          </a:xfrm>
        </p:grpSpPr>
        <p:sp>
          <p:nvSpPr>
            <p:cNvPr id="53" name="矩形: 对角圆角 52"/>
            <p:cNvSpPr/>
            <p:nvPr/>
          </p:nvSpPr>
          <p:spPr>
            <a:xfrm>
              <a:off x="541576" y="203640"/>
              <a:ext cx="451361" cy="374575"/>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4" name="矩形: 对角圆角 53"/>
            <p:cNvSpPr/>
            <p:nvPr/>
          </p:nvSpPr>
          <p:spPr>
            <a:xfrm flipH="1">
              <a:off x="513690" y="784342"/>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grpSp>
        <p:nvGrpSpPr>
          <p:cNvPr id="2" name="组合 1"/>
          <p:cNvGrpSpPr/>
          <p:nvPr/>
        </p:nvGrpSpPr>
        <p:grpSpPr>
          <a:xfrm>
            <a:off x="11487194" y="6169223"/>
            <a:ext cx="453850" cy="438182"/>
            <a:chOff x="5696236" y="5552082"/>
            <a:chExt cx="661068" cy="638246"/>
          </a:xfrm>
        </p:grpSpPr>
        <p:sp>
          <p:nvSpPr>
            <p:cNvPr id="55" name="矩形: 对角圆角 54"/>
            <p:cNvSpPr/>
            <p:nvPr/>
          </p:nvSpPr>
          <p:spPr>
            <a:xfrm>
              <a:off x="6014101" y="5552082"/>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grpSp>
      <p:sp>
        <p:nvSpPr>
          <p:cNvPr id="52" name="文本框 9"/>
          <p:cNvSpPr txBox="1"/>
          <p:nvPr/>
        </p:nvSpPr>
        <p:spPr>
          <a:xfrm>
            <a:off x="5468714" y="2049820"/>
            <a:ext cx="6723286"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6DCE"/>
                </a:solidFill>
                <a:effectLst/>
                <a:uLnTx/>
                <a:uFillTx/>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智慧养老的发展</a:t>
            </a:r>
          </a:p>
        </p:txBody>
      </p:sp>
      <p:sp>
        <p:nvSpPr>
          <p:cNvPr id="59" name="文本框 58"/>
          <p:cNvSpPr txBox="1"/>
          <p:nvPr/>
        </p:nvSpPr>
        <p:spPr>
          <a:xfrm>
            <a:off x="5468714" y="2634595"/>
            <a:ext cx="6018480" cy="168065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rPr>
              <a:t>Venus has a beautiful name and is the second planet from the Sun. It’s terribly hot—even hotter than Mercury—and its atmosphere is extremely poisonous. Venus has a beautiful name and is the second planet from the Sun. It’s terribly hot—even hotter than Mercury—and its atmosphere is extremely poisonous.</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a:sym typeface="汉仪旗黑X1-55W" panose="00020600040101010101" pitchFamily="18" charset="-122"/>
            </a:endParaRPr>
          </a:p>
        </p:txBody>
      </p:sp>
      <p:grpSp>
        <p:nvGrpSpPr>
          <p:cNvPr id="8" name="组合 7"/>
          <p:cNvGrpSpPr/>
          <p:nvPr/>
        </p:nvGrpSpPr>
        <p:grpSpPr>
          <a:xfrm>
            <a:off x="5489452" y="4744817"/>
            <a:ext cx="5561813" cy="494535"/>
            <a:chOff x="5489452" y="4593117"/>
            <a:chExt cx="5561813" cy="494535"/>
          </a:xfrm>
        </p:grpSpPr>
        <p:grpSp>
          <p:nvGrpSpPr>
            <p:cNvPr id="7" name="组合 6"/>
            <p:cNvGrpSpPr/>
            <p:nvPr/>
          </p:nvGrpSpPr>
          <p:grpSpPr>
            <a:xfrm>
              <a:off x="5489452" y="4593117"/>
              <a:ext cx="1609848" cy="494535"/>
              <a:chOff x="5489452" y="4593117"/>
              <a:chExt cx="1609848" cy="494535"/>
            </a:xfrm>
          </p:grpSpPr>
          <p:sp>
            <p:nvSpPr>
              <p:cNvPr id="61" name="矩形: 圆角 60"/>
              <p:cNvSpPr/>
              <p:nvPr/>
            </p:nvSpPr>
            <p:spPr>
              <a:xfrm>
                <a:off x="5489452" y="4593117"/>
                <a:ext cx="1609848" cy="494535"/>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62" name="文本框 61"/>
              <p:cNvSpPr txBox="1"/>
              <p:nvPr/>
            </p:nvSpPr>
            <p:spPr>
              <a:xfrm>
                <a:off x="5489452" y="4640329"/>
                <a:ext cx="160984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关键词</a:t>
                </a:r>
              </a:p>
            </p:txBody>
          </p:sp>
        </p:grpSp>
        <p:grpSp>
          <p:nvGrpSpPr>
            <p:cNvPr id="69" name="组合 68"/>
            <p:cNvGrpSpPr/>
            <p:nvPr/>
          </p:nvGrpSpPr>
          <p:grpSpPr>
            <a:xfrm>
              <a:off x="7465434" y="4593117"/>
              <a:ext cx="1609848" cy="494535"/>
              <a:chOff x="5489452" y="4593117"/>
              <a:chExt cx="1609848" cy="494535"/>
            </a:xfrm>
          </p:grpSpPr>
          <p:sp>
            <p:nvSpPr>
              <p:cNvPr id="70" name="矩形: 圆角 69"/>
              <p:cNvSpPr/>
              <p:nvPr/>
            </p:nvSpPr>
            <p:spPr>
              <a:xfrm>
                <a:off x="5489452" y="4593117"/>
                <a:ext cx="1609848" cy="494535"/>
              </a:xfrm>
              <a:prstGeom prst="roundRect">
                <a:avLst>
                  <a:gd name="adj" fmla="val 5000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71" name="文本框 70"/>
              <p:cNvSpPr txBox="1"/>
              <p:nvPr/>
            </p:nvSpPr>
            <p:spPr>
              <a:xfrm>
                <a:off x="5489452" y="4640329"/>
                <a:ext cx="160984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关键词</a:t>
                </a:r>
              </a:p>
            </p:txBody>
          </p:sp>
        </p:grpSp>
        <p:grpSp>
          <p:nvGrpSpPr>
            <p:cNvPr id="72" name="组合 71"/>
            <p:cNvGrpSpPr/>
            <p:nvPr/>
          </p:nvGrpSpPr>
          <p:grpSpPr>
            <a:xfrm>
              <a:off x="9441417" y="4593117"/>
              <a:ext cx="1609848" cy="494535"/>
              <a:chOff x="5489452" y="4593117"/>
              <a:chExt cx="1609848" cy="494535"/>
            </a:xfrm>
          </p:grpSpPr>
          <p:sp>
            <p:nvSpPr>
              <p:cNvPr id="73" name="矩形: 圆角 72"/>
              <p:cNvSpPr/>
              <p:nvPr/>
            </p:nvSpPr>
            <p:spPr>
              <a:xfrm>
                <a:off x="5489452" y="4593117"/>
                <a:ext cx="1609848" cy="494535"/>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Arial"/>
                </a:endParaRPr>
              </a:p>
            </p:txBody>
          </p:sp>
          <p:sp>
            <p:nvSpPr>
              <p:cNvPr id="74" name="文本框 73"/>
              <p:cNvSpPr txBox="1"/>
              <p:nvPr/>
            </p:nvSpPr>
            <p:spPr>
              <a:xfrm>
                <a:off x="5489452" y="4640329"/>
                <a:ext cx="160984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关键词</a:t>
                </a:r>
              </a:p>
            </p:txBody>
          </p:sp>
        </p:grpSp>
      </p:grpSp>
      <p:grpSp>
        <p:nvGrpSpPr>
          <p:cNvPr id="58" name="组合 57">
            <a:extLst>
              <a:ext uri="{FF2B5EF4-FFF2-40B4-BE49-F238E27FC236}">
                <a16:creationId xmlns:a16="http://schemas.microsoft.com/office/drawing/2014/main" xmlns="" id="{CBC5AEA9-D774-4E94-A2DA-17307BE050DF}"/>
              </a:ext>
            </a:extLst>
          </p:cNvPr>
          <p:cNvGrpSpPr/>
          <p:nvPr/>
        </p:nvGrpSpPr>
        <p:grpSpPr>
          <a:xfrm>
            <a:off x="3598856" y="383921"/>
            <a:ext cx="4994288" cy="859417"/>
            <a:chOff x="6309951" y="2453552"/>
            <a:chExt cx="4994288" cy="859417"/>
          </a:xfrm>
        </p:grpSpPr>
        <p:sp>
          <p:nvSpPr>
            <p:cNvPr id="63" name="矩形: 对角圆角 62">
              <a:extLst>
                <a:ext uri="{FF2B5EF4-FFF2-40B4-BE49-F238E27FC236}">
                  <a16:creationId xmlns:a16="http://schemas.microsoft.com/office/drawing/2014/main" xmlns="" id="{6E87CE3D-CE08-4DF4-B512-F683EA0012D8}"/>
                </a:ext>
              </a:extLst>
            </p:cNvPr>
            <p:cNvSpPr/>
            <p:nvPr/>
          </p:nvSpPr>
          <p:spPr>
            <a:xfrm>
              <a:off x="7645045" y="2453552"/>
              <a:ext cx="2324100" cy="49409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xmlns="" id="{D1C04B36-DCAF-486F-980F-574EE3566BA2}"/>
                </a:ext>
              </a:extLst>
            </p:cNvPr>
            <p:cNvSpPr txBox="1"/>
            <p:nvPr/>
          </p:nvSpPr>
          <p:spPr>
            <a:xfrm>
              <a:off x="6435370" y="2469766"/>
              <a:ext cx="4743450" cy="461665"/>
            </a:xfrm>
            <a:prstGeom prst="rect">
              <a:avLst/>
            </a:prstGeom>
            <a:noFill/>
          </p:spPr>
          <p:txBody>
            <a:bodyPr wrap="square">
              <a:spAutoFit/>
            </a:bodyPr>
            <a:lstStyle/>
            <a:p>
              <a:pPr algn="ctr"/>
              <a:r>
                <a:rPr lang="zh-CN" altLang="en-US" sz="24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65" name="文本框 64">
              <a:extLst>
                <a:ext uri="{FF2B5EF4-FFF2-40B4-BE49-F238E27FC236}">
                  <a16:creationId xmlns:a16="http://schemas.microsoft.com/office/drawing/2014/main" xmlns="" id="{E0726B0B-4BDD-4F93-A7F7-C93639E6BB35}"/>
                </a:ext>
              </a:extLst>
            </p:cNvPr>
            <p:cNvSpPr txBox="1"/>
            <p:nvPr/>
          </p:nvSpPr>
          <p:spPr>
            <a:xfrm>
              <a:off x="6309951" y="2974415"/>
              <a:ext cx="4994288" cy="338554"/>
            </a:xfrm>
            <a:prstGeom prst="rect">
              <a:avLst/>
            </a:prstGeom>
            <a:noFill/>
          </p:spPr>
          <p:txBody>
            <a:bodyPr wrap="square">
              <a:spAutoFit/>
            </a:bodyPr>
            <a:lstStyle/>
            <a:p>
              <a:pPr algn="ctr"/>
              <a:r>
                <a:rPr lang="en-US" altLang="zh-CN"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Future pension model</a:t>
              </a:r>
              <a:endParaRPr lang="zh-CN" altLang="en-US"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spTree>
    <p:extLst>
      <p:ext uri="{BB962C8B-B14F-4D97-AF65-F5344CB8AC3E}">
        <p14:creationId xmlns:p14="http://schemas.microsoft.com/office/powerpoint/2010/main" val="322370762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69143" y="157442"/>
            <a:ext cx="11853714" cy="6543116"/>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4430" y="6425451"/>
            <a:ext cx="513631" cy="397873"/>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616307" y="165961"/>
            <a:ext cx="513631" cy="397873"/>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 name="组合 3"/>
          <p:cNvGrpSpPr/>
          <p:nvPr/>
        </p:nvGrpSpPr>
        <p:grpSpPr>
          <a:xfrm>
            <a:off x="301246" y="239134"/>
            <a:ext cx="267971" cy="485137"/>
            <a:chOff x="513690" y="203640"/>
            <a:chExt cx="479247" cy="867633"/>
          </a:xfrm>
        </p:grpSpPr>
        <p:sp>
          <p:nvSpPr>
            <p:cNvPr id="53" name="矩形: 对角圆角 52"/>
            <p:cNvSpPr/>
            <p:nvPr/>
          </p:nvSpPr>
          <p:spPr>
            <a:xfrm>
              <a:off x="541576" y="203640"/>
              <a:ext cx="451361" cy="374575"/>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flipH="1">
              <a:off x="513690" y="784342"/>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11487194" y="6169223"/>
            <a:ext cx="453850" cy="438182"/>
            <a:chOff x="5696236" y="5552082"/>
            <a:chExt cx="661068" cy="638246"/>
          </a:xfrm>
        </p:grpSpPr>
        <p:sp>
          <p:nvSpPr>
            <p:cNvPr id="55" name="矩形: 对角圆角 54"/>
            <p:cNvSpPr/>
            <p:nvPr/>
          </p:nvSpPr>
          <p:spPr>
            <a:xfrm>
              <a:off x="6014101" y="5552082"/>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3598856" y="383921"/>
            <a:ext cx="4994288" cy="859417"/>
            <a:chOff x="6309951" y="2453552"/>
            <a:chExt cx="4994288" cy="859417"/>
          </a:xfrm>
        </p:grpSpPr>
        <p:sp>
          <p:nvSpPr>
            <p:cNvPr id="12" name="矩形: 对角圆角 11"/>
            <p:cNvSpPr/>
            <p:nvPr/>
          </p:nvSpPr>
          <p:spPr>
            <a:xfrm>
              <a:off x="7645045" y="2453552"/>
              <a:ext cx="2324100" cy="49409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435370" y="2469766"/>
              <a:ext cx="4743450" cy="461665"/>
            </a:xfrm>
            <a:prstGeom prst="rect">
              <a:avLst/>
            </a:prstGeom>
            <a:noFill/>
          </p:spPr>
          <p:txBody>
            <a:bodyPr wrap="square">
              <a:spAutoFit/>
            </a:bodyPr>
            <a:lstStyle/>
            <a:p>
              <a:pPr algn="ctr"/>
              <a:r>
                <a:rPr lang="zh-CN" altLang="en-US" sz="24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57" name="文本框 56"/>
            <p:cNvSpPr txBox="1"/>
            <p:nvPr/>
          </p:nvSpPr>
          <p:spPr>
            <a:xfrm>
              <a:off x="6309951" y="2974415"/>
              <a:ext cx="4994288" cy="338554"/>
            </a:xfrm>
            <a:prstGeom prst="rect">
              <a:avLst/>
            </a:prstGeom>
            <a:noFill/>
          </p:spPr>
          <p:txBody>
            <a:bodyPr wrap="square">
              <a:spAutoFit/>
            </a:bodyPr>
            <a:lstStyle/>
            <a:p>
              <a:pPr algn="ctr"/>
              <a:r>
                <a:rPr lang="en-US" altLang="zh-CN"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Future pension model</a:t>
              </a:r>
              <a:endParaRPr lang="zh-CN" altLang="en-US" sz="16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grpSp>
      <p:grpSp>
        <p:nvGrpSpPr>
          <p:cNvPr id="11" name="组合 10"/>
          <p:cNvGrpSpPr/>
          <p:nvPr/>
        </p:nvGrpSpPr>
        <p:grpSpPr>
          <a:xfrm>
            <a:off x="554407" y="1639324"/>
            <a:ext cx="11083186" cy="4412716"/>
            <a:chOff x="554407" y="1609142"/>
            <a:chExt cx="11083186" cy="4412716"/>
          </a:xfrm>
        </p:grpSpPr>
        <p:grpSp>
          <p:nvGrpSpPr>
            <p:cNvPr id="7" name="组合 6"/>
            <p:cNvGrpSpPr/>
            <p:nvPr/>
          </p:nvGrpSpPr>
          <p:grpSpPr>
            <a:xfrm>
              <a:off x="554407" y="1609142"/>
              <a:ext cx="11083186" cy="2579920"/>
              <a:chOff x="571168" y="1609142"/>
              <a:chExt cx="11083186" cy="2579920"/>
            </a:xfrm>
          </p:grpSpPr>
          <p:sp>
            <p:nvSpPr>
              <p:cNvPr id="59" name="矩形: 对角圆角 58"/>
              <p:cNvSpPr/>
              <p:nvPr/>
            </p:nvSpPr>
            <p:spPr>
              <a:xfrm flipH="1" flipV="1">
                <a:off x="2773137" y="1625354"/>
                <a:ext cx="8714056" cy="2563703"/>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168" y="1609142"/>
                <a:ext cx="3869880" cy="2579920"/>
              </a:xfrm>
              <a:prstGeom prst="round2DiagRect">
                <a:avLst>
                  <a:gd name="adj1" fmla="val 40879"/>
                  <a:gd name="adj2" fmla="val 0"/>
                </a:avLst>
              </a:prstGeom>
            </p:spPr>
          </p:pic>
          <p:sp>
            <p:nvSpPr>
              <p:cNvPr id="52" name="文本框 9"/>
              <p:cNvSpPr txBox="1"/>
              <p:nvPr/>
            </p:nvSpPr>
            <p:spPr>
              <a:xfrm>
                <a:off x="4931068" y="1799139"/>
                <a:ext cx="6723286"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未来养老模式</a:t>
                </a:r>
              </a:p>
            </p:txBody>
          </p:sp>
          <p:sp>
            <p:nvSpPr>
              <p:cNvPr id="58" name="文本框 57"/>
              <p:cNvSpPr txBox="1"/>
              <p:nvPr/>
            </p:nvSpPr>
            <p:spPr>
              <a:xfrm>
                <a:off x="4931068" y="2383914"/>
                <a:ext cx="6018480" cy="1357488"/>
              </a:xfrm>
              <a:prstGeom prst="rect">
                <a:avLst/>
              </a:prstGeom>
              <a:noFill/>
            </p:spPr>
            <p:txBody>
              <a:bodyPr wrap="square">
                <a:spAutoFit/>
              </a:bodyPr>
              <a:lstStyle/>
              <a:p>
                <a:pPr>
                  <a:lnSpc>
                    <a:spcPct val="150000"/>
                  </a:lnSpc>
                </a:pPr>
                <a:r>
                  <a:rPr lang="en-GB" altLang="zh-CN" sz="1400" dirty="0">
                    <a:solidFill>
                      <a:schemeClr val="bg1"/>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 from the Sun. It’s terribly hot—even hotter than Mercury—and its atmosphere is extremely poisonous. Venus has a beautiful name and is the second planet from the Sun. It’s terribly hot</a:t>
                </a:r>
                <a:endParaRPr lang="zh-CN" altLang="en-US" sz="1400" dirty="0">
                  <a:solidFill>
                    <a:schemeClr val="bg1"/>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nvGrpSpPr>
            <p:cNvPr id="9" name="组合 8"/>
            <p:cNvGrpSpPr/>
            <p:nvPr/>
          </p:nvGrpSpPr>
          <p:grpSpPr>
            <a:xfrm>
              <a:off x="799909" y="4723390"/>
              <a:ext cx="10592182" cy="1298468"/>
              <a:chOff x="644727" y="4723390"/>
              <a:chExt cx="10592182" cy="1298468"/>
            </a:xfrm>
          </p:grpSpPr>
          <p:grpSp>
            <p:nvGrpSpPr>
              <p:cNvPr id="8" name="组合 7"/>
              <p:cNvGrpSpPr/>
              <p:nvPr/>
            </p:nvGrpSpPr>
            <p:grpSpPr>
              <a:xfrm>
                <a:off x="644727" y="4723390"/>
                <a:ext cx="2572132" cy="1298468"/>
                <a:chOff x="644727" y="4723390"/>
                <a:chExt cx="2572132" cy="1298468"/>
              </a:xfrm>
            </p:grpSpPr>
            <p:sp>
              <p:nvSpPr>
                <p:cNvPr id="60" name="矩形: 圆角 59"/>
                <p:cNvSpPr/>
                <p:nvPr/>
              </p:nvSpPr>
              <p:spPr>
                <a:xfrm>
                  <a:off x="880941" y="4723390"/>
                  <a:ext cx="2099704" cy="544416"/>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644727" y="4796850"/>
                  <a:ext cx="2572132" cy="461665"/>
                </a:xfrm>
                <a:prstGeom prst="rect">
                  <a:avLst/>
                </a:prstGeom>
                <a:noFill/>
              </p:spPr>
              <p:txBody>
                <a:bodyPr wrap="square">
                  <a:spAutoFit/>
                </a:bodyPr>
                <a:lstStyle/>
                <a:p>
                  <a:pPr algn="ctr"/>
                  <a:r>
                    <a:rPr lang="zh-CN" altLang="en-US" sz="24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养老模式</a:t>
                  </a:r>
                </a:p>
              </p:txBody>
            </p:sp>
            <p:sp>
              <p:nvSpPr>
                <p:cNvPr id="62" name="文本框 61"/>
                <p:cNvSpPr txBox="1"/>
                <p:nvPr/>
              </p:nvSpPr>
              <p:spPr>
                <a:xfrm>
                  <a:off x="728031" y="5399123"/>
                  <a:ext cx="2405524" cy="622735"/>
                </a:xfrm>
                <a:prstGeom prst="rect">
                  <a:avLst/>
                </a:prstGeom>
                <a:noFill/>
              </p:spPr>
              <p:txBody>
                <a:bodyPr wrap="square">
                  <a:spAutoFit/>
                </a:bodyPr>
                <a:lstStyle/>
                <a:p>
                  <a:pPr algn="ct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nvGrpSpPr>
              <p:cNvPr id="63" name="组合 62"/>
              <p:cNvGrpSpPr/>
              <p:nvPr/>
            </p:nvGrpSpPr>
            <p:grpSpPr>
              <a:xfrm>
                <a:off x="3318077" y="4723390"/>
                <a:ext cx="2572132" cy="1298468"/>
                <a:chOff x="644727" y="4723390"/>
                <a:chExt cx="2572132" cy="1298468"/>
              </a:xfrm>
            </p:grpSpPr>
            <p:sp>
              <p:nvSpPr>
                <p:cNvPr id="64" name="矩形: 圆角 63"/>
                <p:cNvSpPr/>
                <p:nvPr/>
              </p:nvSpPr>
              <p:spPr>
                <a:xfrm>
                  <a:off x="880941" y="4723390"/>
                  <a:ext cx="2099704" cy="544416"/>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644727" y="4796850"/>
                  <a:ext cx="2572132" cy="461665"/>
                </a:xfrm>
                <a:prstGeom prst="rect">
                  <a:avLst/>
                </a:prstGeom>
                <a:noFill/>
              </p:spPr>
              <p:txBody>
                <a:bodyPr wrap="square">
                  <a:spAutoFit/>
                </a:bodyPr>
                <a:lstStyle/>
                <a:p>
                  <a:pPr algn="ctr"/>
                  <a:r>
                    <a:rPr lang="zh-CN" altLang="en-US" sz="24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养老模式</a:t>
                  </a:r>
                </a:p>
              </p:txBody>
            </p:sp>
            <p:sp>
              <p:nvSpPr>
                <p:cNvPr id="66" name="文本框 65"/>
                <p:cNvSpPr txBox="1"/>
                <p:nvPr/>
              </p:nvSpPr>
              <p:spPr>
                <a:xfrm>
                  <a:off x="728031" y="5399123"/>
                  <a:ext cx="2405524" cy="622735"/>
                </a:xfrm>
                <a:prstGeom prst="rect">
                  <a:avLst/>
                </a:prstGeom>
                <a:noFill/>
              </p:spPr>
              <p:txBody>
                <a:bodyPr wrap="square">
                  <a:spAutoFit/>
                </a:bodyPr>
                <a:lstStyle/>
                <a:p>
                  <a:pPr algn="ct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nvGrpSpPr>
              <p:cNvPr id="67" name="组合 66"/>
              <p:cNvGrpSpPr/>
              <p:nvPr/>
            </p:nvGrpSpPr>
            <p:grpSpPr>
              <a:xfrm>
                <a:off x="5991427" y="4723390"/>
                <a:ext cx="2572132" cy="1298468"/>
                <a:chOff x="644727" y="4723390"/>
                <a:chExt cx="2572132" cy="1298468"/>
              </a:xfrm>
            </p:grpSpPr>
            <p:sp>
              <p:nvSpPr>
                <p:cNvPr id="68" name="矩形: 圆角 67"/>
                <p:cNvSpPr/>
                <p:nvPr/>
              </p:nvSpPr>
              <p:spPr>
                <a:xfrm>
                  <a:off x="880941" y="4723390"/>
                  <a:ext cx="2099704" cy="544416"/>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644727" y="4796850"/>
                  <a:ext cx="2572132" cy="461665"/>
                </a:xfrm>
                <a:prstGeom prst="rect">
                  <a:avLst/>
                </a:prstGeom>
                <a:noFill/>
              </p:spPr>
              <p:txBody>
                <a:bodyPr wrap="square">
                  <a:spAutoFit/>
                </a:bodyPr>
                <a:lstStyle/>
                <a:p>
                  <a:pPr algn="ctr"/>
                  <a:r>
                    <a:rPr lang="zh-CN" altLang="en-US" sz="24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养老模式</a:t>
                  </a:r>
                </a:p>
              </p:txBody>
            </p:sp>
            <p:sp>
              <p:nvSpPr>
                <p:cNvPr id="70" name="文本框 69"/>
                <p:cNvSpPr txBox="1"/>
                <p:nvPr/>
              </p:nvSpPr>
              <p:spPr>
                <a:xfrm>
                  <a:off x="728031" y="5399123"/>
                  <a:ext cx="2405524" cy="622735"/>
                </a:xfrm>
                <a:prstGeom prst="rect">
                  <a:avLst/>
                </a:prstGeom>
                <a:noFill/>
              </p:spPr>
              <p:txBody>
                <a:bodyPr wrap="square">
                  <a:spAutoFit/>
                </a:bodyPr>
                <a:lstStyle/>
                <a:p>
                  <a:pPr algn="ct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nvGrpSpPr>
              <p:cNvPr id="71" name="组合 70"/>
              <p:cNvGrpSpPr/>
              <p:nvPr/>
            </p:nvGrpSpPr>
            <p:grpSpPr>
              <a:xfrm>
                <a:off x="8664777" y="4723390"/>
                <a:ext cx="2572132" cy="1298468"/>
                <a:chOff x="644727" y="4723390"/>
                <a:chExt cx="2572132" cy="1298468"/>
              </a:xfrm>
            </p:grpSpPr>
            <p:sp>
              <p:nvSpPr>
                <p:cNvPr id="72" name="矩形: 圆角 71"/>
                <p:cNvSpPr/>
                <p:nvPr/>
              </p:nvSpPr>
              <p:spPr>
                <a:xfrm>
                  <a:off x="880941" y="4723390"/>
                  <a:ext cx="2099704" cy="544416"/>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644727" y="4796850"/>
                  <a:ext cx="2572132" cy="461665"/>
                </a:xfrm>
                <a:prstGeom prst="rect">
                  <a:avLst/>
                </a:prstGeom>
                <a:noFill/>
              </p:spPr>
              <p:txBody>
                <a:bodyPr wrap="square">
                  <a:spAutoFit/>
                </a:bodyPr>
                <a:lstStyle/>
                <a:p>
                  <a:pPr algn="ctr"/>
                  <a:r>
                    <a:rPr lang="zh-CN" altLang="en-US" sz="2400" b="1"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养老模式</a:t>
                  </a:r>
                </a:p>
              </p:txBody>
            </p:sp>
            <p:sp>
              <p:nvSpPr>
                <p:cNvPr id="74" name="文本框 73"/>
                <p:cNvSpPr txBox="1"/>
                <p:nvPr/>
              </p:nvSpPr>
              <p:spPr>
                <a:xfrm>
                  <a:off x="728031" y="5399123"/>
                  <a:ext cx="2405524" cy="622735"/>
                </a:xfrm>
                <a:prstGeom prst="rect">
                  <a:avLst/>
                </a:prstGeom>
                <a:noFill/>
              </p:spPr>
              <p:txBody>
                <a:bodyPr wrap="square">
                  <a:spAutoFit/>
                </a:bodyPr>
                <a:lstStyle/>
                <a:p>
                  <a:pPr algn="ctr">
                    <a:lnSpc>
                      <a:spcPct val="150000"/>
                    </a:lnSpc>
                  </a:pPr>
                  <a:r>
                    <a:rPr lang="en-GB"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rPr>
                    <a:t>Venus has a beautiful name and is the second planet</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汉仪旗黑X1-55W" panose="00020600040101010101" pitchFamily="18" charset="-122"/>
                  </a:endParaRPr>
                </a:p>
              </p:txBody>
            </p:sp>
          </p:grpSp>
        </p:grpSp>
      </p:grpSp>
      <p:sp>
        <p:nvSpPr>
          <p:cNvPr id="5" name="TextBox 4"/>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微软雅黑" panose="020B0503020204020204" pitchFamily="34" charset="-122"/>
                <a:ea typeface="微软雅黑" panose="020B0503020204020204" pitchFamily="34" charset="-122"/>
              </a:rPr>
              <a:t>行业</a:t>
            </a:r>
            <a:r>
              <a:rPr lang="en-US" altLang="zh-CN" sz="135">
                <a:solidFill>
                  <a:schemeClr val="tx1">
                    <a:alpha val="0"/>
                  </a:schemeClr>
                </a:solidFill>
                <a:latin typeface="微软雅黑" panose="020B0503020204020204" pitchFamily="34" charset="-122"/>
                <a:ea typeface="微软雅黑" panose="020B0503020204020204" pitchFamily="34" charset="-122"/>
              </a:rPr>
              <a:t>PPT</a:t>
            </a:r>
            <a:r>
              <a:rPr lang="zh-CN" altLang="en-US" sz="135">
                <a:solidFill>
                  <a:schemeClr val="tx1">
                    <a:alpha val="0"/>
                  </a:schemeClr>
                </a:solidFill>
                <a:latin typeface="微软雅黑" panose="020B0503020204020204" pitchFamily="34" charset="-122"/>
                <a:ea typeface="微软雅黑" panose="020B0503020204020204" pitchFamily="34" charset="-122"/>
              </a:rPr>
              <a:t>模板</a:t>
            </a:r>
            <a:r>
              <a:rPr lang="en-US" altLang="zh-CN" sz="135">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76225" y="314885"/>
            <a:ext cx="11639550" cy="6228231"/>
          </a:xfrm>
          <a:prstGeom prst="rect">
            <a:avLst/>
          </a:prstGeom>
          <a:noFill/>
          <a:ln w="25400">
            <a:solidFill>
              <a:srgbClr val="0A3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rcRect l="9838" r="11685"/>
          <a:stretch>
            <a:fillRect/>
          </a:stretch>
        </p:blipFill>
        <p:spPr>
          <a:xfrm>
            <a:off x="0" y="826920"/>
            <a:ext cx="6353025" cy="5396897"/>
          </a:xfrm>
          <a:custGeom>
            <a:avLst/>
            <a:gdLst>
              <a:gd name="connsiteX0" fmla="*/ 0 w 9085006"/>
              <a:gd name="connsiteY0" fmla="*/ 0 h 6857999"/>
              <a:gd name="connsiteX1" fmla="*/ 5656005 w 9085006"/>
              <a:gd name="connsiteY1" fmla="*/ 0 h 6857999"/>
              <a:gd name="connsiteX2" fmla="*/ 9085006 w 9085006"/>
              <a:gd name="connsiteY2" fmla="*/ 3429001 h 6857999"/>
              <a:gd name="connsiteX3" fmla="*/ 5832461 w 9085006"/>
              <a:gd name="connsiteY3" fmla="*/ 6853540 h 6857999"/>
              <a:gd name="connsiteX4" fmla="*/ 5656127 w 9085006"/>
              <a:gd name="connsiteY4" fmla="*/ 6857999 h 6857999"/>
              <a:gd name="connsiteX5" fmla="*/ 0 w 9085006"/>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5006" h="6857999">
                <a:moveTo>
                  <a:pt x="0" y="0"/>
                </a:moveTo>
                <a:lnTo>
                  <a:pt x="5656005" y="0"/>
                </a:lnTo>
                <a:cubicBezTo>
                  <a:pt x="7549790" y="0"/>
                  <a:pt x="9085006" y="1535216"/>
                  <a:pt x="9085006" y="3429001"/>
                </a:cubicBezTo>
                <a:cubicBezTo>
                  <a:pt x="9085006" y="5263605"/>
                  <a:pt x="7644242" y="6761701"/>
                  <a:pt x="5832461" y="6853540"/>
                </a:cubicBezTo>
                <a:lnTo>
                  <a:pt x="5656127" y="6857999"/>
                </a:lnTo>
                <a:lnTo>
                  <a:pt x="0" y="6857999"/>
                </a:lnTo>
                <a:close/>
              </a:path>
            </a:pathLst>
          </a:custGeom>
        </p:spPr>
      </p:pic>
      <p:sp>
        <p:nvSpPr>
          <p:cNvPr id="12" name="矩形: 对角圆角 11"/>
          <p:cNvSpPr/>
          <p:nvPr/>
        </p:nvSpPr>
        <p:spPr>
          <a:xfrm>
            <a:off x="5464150" y="2132988"/>
            <a:ext cx="5974779" cy="127635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p:nvSpPr>
        <p:spPr>
          <a:xfrm>
            <a:off x="8037616" y="5265876"/>
            <a:ext cx="1933698" cy="494535"/>
          </a:xfrm>
          <a:prstGeom prst="round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5436510" y="1236834"/>
            <a:ext cx="6797128" cy="769441"/>
          </a:xfrm>
          <a:prstGeom prst="rect">
            <a:avLst/>
          </a:prstGeom>
          <a:noFill/>
        </p:spPr>
        <p:txBody>
          <a:bodyPr wrap="square">
            <a:spAutoFit/>
          </a:bodyPr>
          <a:lstStyle/>
          <a:p>
            <a:pPr algn="ctr"/>
            <a:r>
              <a:rPr lang="en-US" altLang="zh-CN" sz="44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rPr>
              <a:t>Provide for the aged</a:t>
            </a:r>
            <a:endParaRPr lang="zh-CN" altLang="en-US" sz="4400" dirty="0">
              <a:solidFill>
                <a:srgbClr val="FFB31A"/>
              </a:solidFill>
              <a:latin typeface="思源宋体 CN Heavy" pitchFamily="18" charset="-122"/>
              <a:ea typeface="思源宋体 CN Heavy" pitchFamily="18" charset="-122"/>
              <a:cs typeface="阿里巴巴普惠体 B" panose="00020600040101010101" pitchFamily="18" charset="-122"/>
              <a:sym typeface="汉仪中宋S" panose="00020600040101010101" pitchFamily="18" charset="-122"/>
            </a:endParaRPr>
          </a:p>
        </p:txBody>
      </p:sp>
      <p:sp>
        <p:nvSpPr>
          <p:cNvPr id="20" name="文本框 19"/>
          <p:cNvSpPr txBox="1"/>
          <p:nvPr/>
        </p:nvSpPr>
        <p:spPr>
          <a:xfrm>
            <a:off x="6526471" y="4092920"/>
            <a:ext cx="4955988" cy="899733"/>
          </a:xfrm>
          <a:prstGeom prst="rect">
            <a:avLst/>
          </a:prstGeom>
          <a:noFill/>
        </p:spPr>
        <p:txBody>
          <a:bodyPr wrap="square">
            <a:spAutoFit/>
          </a:bodyPr>
          <a:lstStyle/>
          <a:p>
            <a:pPr algn="ctr">
              <a:lnSpc>
                <a:spcPct val="150000"/>
              </a:lnSpc>
              <a:spcBef>
                <a:spcPts val="800"/>
              </a:spcBef>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OPPOSans R" panose="00020600040101010101" pitchFamily="18" charset="-122"/>
                <a:sym typeface="汉仪旗黑X1-55W" panose="00020600040101010101" pitchFamily="18" charset="-122"/>
              </a:rPr>
              <a:t>It could be the part of the presentation where you can introduce your company or agency. It could be the part of the presentation where you can introduce your company or agency. </a:t>
            </a:r>
          </a:p>
        </p:txBody>
      </p:sp>
      <p:sp>
        <p:nvSpPr>
          <p:cNvPr id="21" name="文本框 20"/>
          <p:cNvSpPr txBox="1"/>
          <p:nvPr/>
        </p:nvSpPr>
        <p:spPr>
          <a:xfrm>
            <a:off x="4932025" y="2217165"/>
            <a:ext cx="6983750" cy="1107996"/>
          </a:xfrm>
          <a:prstGeom prst="rect">
            <a:avLst/>
          </a:prstGeom>
          <a:noFill/>
        </p:spPr>
        <p:txBody>
          <a:bodyPr wrap="square">
            <a:spAutoFit/>
          </a:bodyPr>
          <a:lstStyle/>
          <a:p>
            <a:pPr algn="ctr"/>
            <a:r>
              <a:rPr lang="zh-CN" altLang="en-US" sz="6600" dirty="0">
                <a:solidFill>
                  <a:schemeClr val="bg1"/>
                </a:solidFill>
                <a:latin typeface="思源宋体 CN Heavy" pitchFamily="18" charset="-122"/>
                <a:ea typeface="思源宋体 CN Heavy" pitchFamily="18" charset="-122"/>
                <a:cs typeface="阿里巴巴普惠体 B" panose="00020600040101010101" pitchFamily="18" charset="-122"/>
                <a:sym typeface="汉仪旗黑X1-85W" panose="00020600040101010101" pitchFamily="18" charset="-122"/>
              </a:rPr>
              <a:t>社区智慧养老</a:t>
            </a:r>
          </a:p>
        </p:txBody>
      </p:sp>
      <p:sp>
        <p:nvSpPr>
          <p:cNvPr id="22" name="文本框 21"/>
          <p:cNvSpPr txBox="1"/>
          <p:nvPr/>
        </p:nvSpPr>
        <p:spPr>
          <a:xfrm>
            <a:off x="6680290" y="3694086"/>
            <a:ext cx="4648350" cy="307777"/>
          </a:xfrm>
          <a:prstGeom prst="rect">
            <a:avLst/>
          </a:prstGeom>
          <a:noFill/>
        </p:spPr>
        <p:txBody>
          <a:bodyPr wrap="square">
            <a:spAutoFit/>
          </a:bodyPr>
          <a:lstStyle/>
          <a:p>
            <a:pPr algn="dist"/>
            <a:r>
              <a:rPr lang="zh-CN" altLang="en-US" sz="1400" dirty="0">
                <a:solidFill>
                  <a:srgbClr val="086DCE"/>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养老院社区智慧养老解决方案</a:t>
            </a:r>
            <a:r>
              <a:rPr lang="en-US" altLang="zh-CN" sz="1400" dirty="0">
                <a:solidFill>
                  <a:srgbClr val="086DCE"/>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PPT</a:t>
            </a:r>
            <a:endParaRPr lang="zh-CN" altLang="en-US" sz="1400" dirty="0">
              <a:solidFill>
                <a:srgbClr val="086DCE"/>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endParaRPr>
          </a:p>
        </p:txBody>
      </p:sp>
      <p:cxnSp>
        <p:nvCxnSpPr>
          <p:cNvPr id="24" name="直接连接符 23"/>
          <p:cNvCxnSpPr/>
          <p:nvPr/>
        </p:nvCxnSpPr>
        <p:spPr>
          <a:xfrm>
            <a:off x="6661332" y="4092920"/>
            <a:ext cx="4686266" cy="0"/>
          </a:xfrm>
          <a:prstGeom prst="line">
            <a:avLst/>
          </a:prstGeom>
          <a:ln w="12700">
            <a:solidFill>
              <a:srgbClr val="0A3181"/>
            </a:solidFill>
          </a:ln>
        </p:spPr>
        <p:style>
          <a:lnRef idx="1">
            <a:schemeClr val="accent1"/>
          </a:lnRef>
          <a:fillRef idx="0">
            <a:schemeClr val="accent1"/>
          </a:fillRef>
          <a:effectRef idx="0">
            <a:schemeClr val="accent1"/>
          </a:effectRef>
          <a:fontRef idx="minor">
            <a:schemeClr val="tx1"/>
          </a:fontRef>
        </p:style>
      </p:cxnSp>
      <p:sp>
        <p:nvSpPr>
          <p:cNvPr id="25" name="矩形: 单圆角 24"/>
          <p:cNvSpPr/>
          <p:nvPr/>
        </p:nvSpPr>
        <p:spPr>
          <a:xfrm>
            <a:off x="0" y="6031080"/>
            <a:ext cx="1974441" cy="826920"/>
          </a:xfrm>
          <a:prstGeom prst="round1Rect">
            <a:avLst>
              <a:gd name="adj" fmla="val 5000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717861" y="871225"/>
            <a:ext cx="746290" cy="578097"/>
            <a:chOff x="8705850" y="-133350"/>
            <a:chExt cx="3600450" cy="2789009"/>
          </a:xfrm>
          <a:solidFill>
            <a:srgbClr val="0A3181"/>
          </a:solidFill>
        </p:grpSpPr>
        <p:grpSp>
          <p:nvGrpSpPr>
            <p:cNvPr id="27" name="组合 26"/>
            <p:cNvGrpSpPr/>
            <p:nvPr/>
          </p:nvGrpSpPr>
          <p:grpSpPr>
            <a:xfrm>
              <a:off x="8705850" y="-133350"/>
              <a:ext cx="3600450" cy="266700"/>
              <a:chOff x="8705850" y="-133350"/>
              <a:chExt cx="3600450" cy="266700"/>
            </a:xfrm>
            <a:grpFill/>
          </p:grpSpPr>
          <p:sp>
            <p:nvSpPr>
              <p:cNvPr id="36" name="椭圆 3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705850" y="1127805"/>
              <a:ext cx="3600450" cy="266700"/>
              <a:chOff x="8705850" y="-133350"/>
              <a:chExt cx="3600450" cy="266700"/>
            </a:xfrm>
            <a:grpFill/>
          </p:grpSpPr>
          <p:sp>
            <p:nvSpPr>
              <p:cNvPr id="33" name="椭圆 3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05850" y="2388959"/>
              <a:ext cx="3600450" cy="266700"/>
              <a:chOff x="8705850" y="-133350"/>
              <a:chExt cx="3600450" cy="266700"/>
            </a:xfrm>
            <a:grpFill/>
          </p:grpSpPr>
          <p:sp>
            <p:nvSpPr>
              <p:cNvPr id="30" name="椭圆 29"/>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p:cNvGrpSpPr/>
          <p:nvPr/>
        </p:nvGrpSpPr>
        <p:grpSpPr>
          <a:xfrm>
            <a:off x="11383649" y="6177770"/>
            <a:ext cx="746290" cy="578097"/>
            <a:chOff x="8705850" y="-133350"/>
            <a:chExt cx="3600450" cy="2789009"/>
          </a:xfrm>
          <a:solidFill>
            <a:srgbClr val="FFB31A"/>
          </a:solidFill>
        </p:grpSpPr>
        <p:grpSp>
          <p:nvGrpSpPr>
            <p:cNvPr id="40" name="组合 39"/>
            <p:cNvGrpSpPr/>
            <p:nvPr/>
          </p:nvGrpSpPr>
          <p:grpSpPr>
            <a:xfrm>
              <a:off x="8705850" y="-133350"/>
              <a:ext cx="3600450" cy="266700"/>
              <a:chOff x="8705850" y="-133350"/>
              <a:chExt cx="3600450" cy="266700"/>
            </a:xfrm>
            <a:grpFill/>
          </p:grpSpPr>
          <p:sp>
            <p:nvSpPr>
              <p:cNvPr id="49" name="椭圆 48"/>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8705850" y="1127805"/>
              <a:ext cx="3600450" cy="266700"/>
              <a:chOff x="8705850" y="-133350"/>
              <a:chExt cx="3600450" cy="266700"/>
            </a:xfrm>
            <a:grpFill/>
          </p:grpSpPr>
          <p:sp>
            <p:nvSpPr>
              <p:cNvPr id="46" name="椭圆 45"/>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8705850" y="2388959"/>
              <a:ext cx="3600450" cy="266700"/>
              <a:chOff x="8705850" y="-133350"/>
              <a:chExt cx="3600450" cy="266700"/>
            </a:xfrm>
            <a:grpFill/>
          </p:grpSpPr>
          <p:sp>
            <p:nvSpPr>
              <p:cNvPr id="43" name="椭圆 42"/>
              <p:cNvSpPr/>
              <p:nvPr/>
            </p:nvSpPr>
            <p:spPr>
              <a:xfrm>
                <a:off x="870585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372725"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2039600" y="-133350"/>
                <a:ext cx="266700" cy="2667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2" name="文本框 51"/>
          <p:cNvSpPr txBox="1"/>
          <p:nvPr/>
        </p:nvSpPr>
        <p:spPr>
          <a:xfrm>
            <a:off x="7396707" y="5313088"/>
            <a:ext cx="3215516" cy="400110"/>
          </a:xfrm>
          <a:prstGeom prst="rect">
            <a:avLst/>
          </a:prstGeom>
          <a:noFill/>
        </p:spPr>
        <p:txBody>
          <a:bodyPr wrap="squar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START </a:t>
            </a:r>
            <a:r>
              <a:rPr lang="zh-CN" altLang="en-US" sz="2000" dirty="0">
                <a:solidFill>
                  <a:schemeClr val="bg1"/>
                </a:solidFill>
                <a:latin typeface="微软雅黑" panose="020B0503020204020204" pitchFamily="34" charset="-122"/>
                <a:ea typeface="微软雅黑" panose="020B0503020204020204" pitchFamily="34" charset="-122"/>
                <a:cs typeface="阿里巴巴普惠体 B" panose="00020600040101010101" pitchFamily="18" charset="-122"/>
                <a:sym typeface="汉仪旗黑X1-65W" panose="00020600040101010101" pitchFamily="18" charset="-122"/>
              </a:rPr>
              <a:t>→</a:t>
            </a:r>
          </a:p>
        </p:txBody>
      </p:sp>
      <p:sp>
        <p:nvSpPr>
          <p:cNvPr id="53" name="矩形: 对角圆角 52"/>
          <p:cNvSpPr/>
          <p:nvPr/>
        </p:nvSpPr>
        <p:spPr>
          <a:xfrm>
            <a:off x="651014" y="433019"/>
            <a:ext cx="672411" cy="558020"/>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对角圆角 53"/>
          <p:cNvSpPr/>
          <p:nvPr/>
        </p:nvSpPr>
        <p:spPr>
          <a:xfrm>
            <a:off x="704907" y="1216143"/>
            <a:ext cx="345750" cy="286931"/>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对角圆角 54"/>
          <p:cNvSpPr/>
          <p:nvPr/>
        </p:nvSpPr>
        <p:spPr>
          <a:xfrm>
            <a:off x="6014101" y="5459920"/>
            <a:ext cx="343203" cy="284817"/>
          </a:xfrm>
          <a:prstGeom prst="round2DiagRect">
            <a:avLst>
              <a:gd name="adj1" fmla="val 50000"/>
              <a:gd name="adj2" fmla="val 0"/>
            </a:avLst>
          </a:prstGeom>
          <a:solidFill>
            <a:srgbClr val="086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对角圆角 55"/>
          <p:cNvSpPr/>
          <p:nvPr/>
        </p:nvSpPr>
        <p:spPr>
          <a:xfrm flipH="1">
            <a:off x="5696236" y="5905511"/>
            <a:ext cx="343203" cy="284817"/>
          </a:xfrm>
          <a:prstGeom prst="round2DiagRect">
            <a:avLst>
              <a:gd name="adj1" fmla="val 50000"/>
              <a:gd name="adj2" fmla="val 0"/>
            </a:avLst>
          </a:prstGeom>
          <a:solidFill>
            <a:srgbClr val="FFB3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2"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a:ea typeface="+mn-ea"/>
                <a:cs typeface="+mn-cs"/>
              </a:defRPr>
            </a:lvl1pPr>
            <a:lvl2pPr marL="457200" algn="l" defTabSz="914400" rtl="0" eaLnBrk="1" latinLnBrk="0" hangingPunct="1">
              <a:defRPr sz="1800" kern="1200">
                <a:solidFill>
                  <a:srgbClr val="FFFFFF"/>
                </a:solidFill>
                <a:latin typeface="Calibri"/>
                <a:ea typeface="+mn-ea"/>
                <a:cs typeface="+mn-cs"/>
              </a:defRPr>
            </a:lvl2pPr>
            <a:lvl3pPr marL="914400" algn="l" defTabSz="914400" rtl="0" eaLnBrk="1" latinLnBrk="0" hangingPunct="1">
              <a:defRPr sz="1800" kern="1200">
                <a:solidFill>
                  <a:srgbClr val="FFFFFF"/>
                </a:solidFill>
                <a:latin typeface="Calibri"/>
                <a:ea typeface="+mn-ea"/>
                <a:cs typeface="+mn-cs"/>
              </a:defRPr>
            </a:lvl3pPr>
            <a:lvl4pPr marL="1371600" algn="l" defTabSz="914400" rtl="0" eaLnBrk="1" latinLnBrk="0" hangingPunct="1">
              <a:defRPr sz="1800" kern="1200">
                <a:solidFill>
                  <a:srgbClr val="FFFFFF"/>
                </a:solidFill>
                <a:latin typeface="Calibri"/>
                <a:ea typeface="+mn-ea"/>
                <a:cs typeface="+mn-cs"/>
              </a:defRPr>
            </a:lvl4pPr>
            <a:lvl5pPr marL="1828800" algn="l" defTabSz="914400" rtl="0" eaLnBrk="1" latinLnBrk="0" hangingPunct="1">
              <a:defRPr sz="1800" kern="1200">
                <a:solidFill>
                  <a:srgbClr val="FFFFFF"/>
                </a:solidFill>
                <a:latin typeface="Calibri"/>
                <a:ea typeface="+mn-ea"/>
                <a:cs typeface="+mn-cs"/>
              </a:defRPr>
            </a:lvl5pPr>
            <a:lvl6pPr marL="2286000" algn="l" defTabSz="914400" rtl="0" eaLnBrk="1" latinLnBrk="0" hangingPunct="1">
              <a:defRPr sz="1800" kern="1200">
                <a:solidFill>
                  <a:srgbClr val="FFFFFF"/>
                </a:solidFill>
                <a:latin typeface="Calibri"/>
                <a:ea typeface="+mn-ea"/>
                <a:cs typeface="+mn-cs"/>
              </a:defRPr>
            </a:lvl6pPr>
            <a:lvl7pPr marL="2743200" algn="l" defTabSz="914400" rtl="0" eaLnBrk="1" latinLnBrk="0" hangingPunct="1">
              <a:defRPr sz="1800" kern="1200">
                <a:solidFill>
                  <a:srgbClr val="FFFFFF"/>
                </a:solidFill>
                <a:latin typeface="Calibri"/>
                <a:ea typeface="+mn-ea"/>
                <a:cs typeface="+mn-cs"/>
              </a:defRPr>
            </a:lvl7pPr>
            <a:lvl8pPr marL="3200400" algn="l" defTabSz="914400" rtl="0" eaLnBrk="1" latinLnBrk="0" hangingPunct="1">
              <a:defRPr sz="1800" kern="1200">
                <a:solidFill>
                  <a:srgbClr val="FFFFFF"/>
                </a:solidFill>
                <a:latin typeface="Calibri"/>
                <a:ea typeface="+mn-ea"/>
                <a:cs typeface="+mn-cs"/>
              </a:defRPr>
            </a:lvl8pPr>
            <a:lvl9pPr marL="3657600" algn="l" defTabSz="914400" rtl="0" eaLnBrk="1" latinLnBrk="0" hangingPunct="1">
              <a:defRPr sz="1800" kern="1200">
                <a:solidFill>
                  <a:srgbClr val="FFFFFF"/>
                </a:solidFill>
                <a:latin typeface="Calibri"/>
                <a:ea typeface="+mn-ea"/>
                <a:cs typeface="+mn-cs"/>
              </a:defRPr>
            </a:lvl9pPr>
          </a:lstStyle>
          <a:p>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行业</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节日</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素材：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465">
              <a:solidFill>
                <a:srgbClr val="EEECE1">
                  <a:lumMod val="25000"/>
                </a:srgbClr>
              </a:solidFill>
              <a:latin typeface="微软雅黑" panose="020B0503020204020204" pitchFamily="34" charset="-122"/>
              <a:ea typeface="微软雅黑" panose="020B0503020204020204" pitchFamily="34" charset="-122"/>
            </a:endParaRPr>
          </a:p>
          <a:p>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图表：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优秀</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下载：</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教程：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en-US" altLang="zh-CN" sz="1465">
                <a:solidFill>
                  <a:srgbClr val="EEECE1">
                    <a:lumMod val="25000"/>
                  </a:srgbClr>
                </a:solidFill>
                <a:latin typeface="微软雅黑" panose="020B0503020204020204" pitchFamily="34" charset="-122"/>
                <a:ea typeface="微软雅黑" panose="020B0503020204020204" pitchFamily="34" charset="-122"/>
              </a:rPr>
              <a:t>Word</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465">
                <a:solidFill>
                  <a:srgbClr val="EEECE1">
                    <a:lumMod val="25000"/>
                  </a:srgbClr>
                </a:solidFill>
                <a:latin typeface="微软雅黑" panose="020B0503020204020204" pitchFamily="34" charset="-122"/>
                <a:ea typeface="微软雅黑" panose="020B0503020204020204" pitchFamily="34" charset="-122"/>
              </a:rPr>
              <a:t>                        Excel</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课件：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endParaRPr lang="zh-CN" altLang="en-US" sz="1465">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276"/>
            <a:ext cx="12192000" cy="1366829"/>
          </a:xfrm>
          <a:prstGeom prst="rect">
            <a:avLst/>
          </a:prstGeom>
          <a:solidFill>
            <a:schemeClr val="tx2">
              <a:lumMod val="75000"/>
            </a:schemeClr>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2400" kern="0">
              <a:solidFill>
                <a:srgbClr val="005397"/>
              </a:solidFill>
              <a:latin typeface="Arial"/>
              <a:ea typeface="微软雅黑" panose="020B0503020204020204" pitchFamily="34" charset="-122"/>
            </a:endParaRPr>
          </a:p>
        </p:txBody>
      </p:sp>
      <p:sp>
        <p:nvSpPr>
          <p:cNvPr id="15" name="Rectangle 3"/>
          <p:cNvSpPr>
            <a:spLocks noChangeArrowheads="1"/>
          </p:cNvSpPr>
          <p:nvPr/>
        </p:nvSpPr>
        <p:spPr bwMode="auto">
          <a:xfrm>
            <a:off x="540251" y="3097353"/>
            <a:ext cx="5471583"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rPr>
              <a:t>可以在下列情况使用</a:t>
            </a:r>
            <a:endParaRPr lang="zh-CN" altLang="en-US" sz="1465"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个人学习、研究。</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拷贝模板中的内容用于其它幻灯片母版中使用。</a:t>
            </a:r>
          </a:p>
        </p:txBody>
      </p:sp>
      <p:sp>
        <p:nvSpPr>
          <p:cNvPr id="16" name="Rectangle 4"/>
          <p:cNvSpPr>
            <a:spLocks noChangeArrowheads="1"/>
          </p:cNvSpPr>
          <p:nvPr/>
        </p:nvSpPr>
        <p:spPr bwMode="auto">
          <a:xfrm>
            <a:off x="6107840" y="3097353"/>
            <a:ext cx="5471584"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rPr>
              <a:t>不可以在以下情况使用</a:t>
            </a:r>
            <a:endParaRPr lang="zh-CN" altLang="en-US" sz="1335" b="1"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任何形式的在线付费下载。</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网络转载、线上线下传播。</a:t>
            </a:r>
            <a:endParaRPr lang="zh-CN" altLang="en-GB" sz="1465" kern="0">
              <a:solidFill>
                <a:prstClr val="white"/>
              </a:solidFill>
              <a:latin typeface="微软雅黑" panose="020B0503020204020204" pitchFamily="34" charset="-122"/>
              <a:ea typeface="微软雅黑" panose="020B0503020204020204"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tretch>
            <a:fillRect/>
          </a:stretch>
        </p:blipFill>
        <p:spPr bwMode="auto">
          <a:xfrm>
            <a:off x="2149475" y="0"/>
            <a:ext cx="7893049" cy="299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墨迹 6"/>
          <p:cNvPicPr/>
          <p:nvPr/>
        </p:nvPicPr>
        <p:blipFill>
          <a:blip r:embed="rId19"/>
          <a:stretch>
            <a:fillRect/>
          </a:stretch>
        </p:blipFill>
        <p:spPr>
          <a:xfrm>
            <a:off x="-1715569" y="629060"/>
            <a:ext cx="48000" cy="21600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jb3VudCI6MSwiaGRpZCI6ImM0YjQxZTA4Y2Q5YWNmODliMTU2NmQ4NDYzZTgzNjZiIiwidXNlckNvdW50IjoxfQ=="/>
  <p:tag name="KSO_WPP_MARK_KEY" val="baf00700-f7c3-45fb-9b8a-08adfb1d952a"/>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微软雅黑"/>
        <a:cs typeface="Arial"/>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微软雅黑"/>
        <a:cs typeface="Arial"/>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15</TotalTime>
  <Words>1830</Words>
  <Application>Microsoft Office PowerPoint</Application>
  <PresentationFormat>自定义</PresentationFormat>
  <Paragraphs>196</Paragraphs>
  <Slides>20</Slides>
  <Notes>1</Notes>
  <HiddenSlides>0</HiddenSlides>
  <MMClips>0</MMClips>
  <ScaleCrop>false</ScaleCrop>
  <HeadingPairs>
    <vt:vector size="4" baseType="variant">
      <vt:variant>
        <vt:lpstr>主题</vt:lpstr>
      </vt:variant>
      <vt:variant>
        <vt:i4>2</vt:i4>
      </vt:variant>
      <vt:variant>
        <vt:lpstr>幻灯片标题</vt:lpstr>
      </vt:variant>
      <vt:variant>
        <vt:i4>20</vt:i4>
      </vt:variant>
    </vt:vector>
  </HeadingPairs>
  <TitlesOfParts>
    <vt:vector size="22" baseType="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智慧养老</dc:title>
  <dc:creator>第一PPT</dc:creator>
  <cp:keywords>www.1ppt.com</cp:keywords>
  <dc:description>www.1ppt.com</dc:description>
  <cp:lastModifiedBy>123</cp:lastModifiedBy>
  <cp:revision>20</cp:revision>
  <dcterms:created xsi:type="dcterms:W3CDTF">2022-04-06T12:47:00Z</dcterms:created>
  <dcterms:modified xsi:type="dcterms:W3CDTF">2025-09-30T07:54:49Z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643439B4644D40BC80E7096462EDD4BB_13</vt:lpwstr>
  </property>
  <property fmtid="{D5CDD505-2E9C-101B-9397-08002B2CF9AE}" pid="3" name="KSOProductBuildVer">
    <vt:lpwstr>2052-12.1.0.21915</vt:lpwstr>
  </property>
  <property fmtid="{D5CDD505-2E9C-101B-9397-08002B2CF9AE}" pid="4" name="KSOTemplateUUID">
    <vt:lpwstr>v1.0_mb_WHdtLGapLYDdAeIqau4CUg==</vt:lpwstr>
  </property>
</Properties>
</file>